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37960" y="502920"/>
            <a:ext cx="507492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ashboard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93875"/>
            <a:ext cx="4709160" cy="3270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85800"/>
            <a:ext cx="53035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5664B"/>
                </a:solidFill>
                <a:latin typeface="Noto Sans Thai"/>
              </a:rPr>
              <a:t>PROJECT IOT · EDGE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539496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400" b="1">
                <a:solidFill>
                  <a:srgbClr val="0A4A37"/>
                </a:solidFill>
                <a:latin typeface="Noto Sans Thai"/>
              </a:rPr>
              <a:t>ใบเสร็จดี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75104"/>
            <a:ext cx="53949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17231F"/>
                </a:solidFill>
                <a:latin typeface="Noto Sans Thai"/>
              </a:rPr>
              <a:t>Offline AI Receipt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15184"/>
            <a:ext cx="5440680" cy="9601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0">
                <a:solidFill>
                  <a:srgbClr val="60706A"/>
                </a:solidFill>
                <a:latin typeface="Noto Sans Thai"/>
              </a:rPr>
              <a:t>ระบบอ่านใบเสร็จ สรุปค่าใช้จ่าย และแสดง Dashboard
ด้วย AI ที่ทำงานภายใน Raspberry 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13632"/>
            <a:ext cx="160934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968496"/>
            <a:ext cx="1609344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0A4A37"/>
                </a:solidFill>
                <a:latin typeface="Noto Sans Thai"/>
              </a:rPr>
              <a:t>Raspberry Pi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913632"/>
            <a:ext cx="160934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3968496"/>
            <a:ext cx="1609344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15664B"/>
                </a:solidFill>
                <a:latin typeface="Noto Sans Thai"/>
              </a:rPr>
              <a:t>OCR ไทย–อังกฤษ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3913632"/>
            <a:ext cx="160934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B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3968496"/>
            <a:ext cx="1609344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94B853"/>
                </a:solidFill>
                <a:latin typeface="Noto Sans Thai"/>
              </a:rPr>
              <a:t>Local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55778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17231F"/>
                </a:solidFill>
                <a:latin typeface="Noto Sans Thai"/>
              </a:rPr>
              <a:t>ผู้จัดทำ: [ชื่อ–นามสกุล]  |  รหัสนักศึกษา: [กรอก]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77840"/>
            <a:ext cx="3657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0706A"/>
                </a:solidFill>
                <a:latin typeface="Noto Sans Thai"/>
              </a:rPr>
              <a:t>นำเสนอเดือนตุลาคม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046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60706A"/>
                </a:solidFill>
                <a:latin typeface="Noto Sans Thai"/>
              </a:rPr>
              <a:t>01 · PROBLEM &amp;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42416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A4A37"/>
                </a:solidFill>
                <a:latin typeface="Noto Sans Thai"/>
              </a:rPr>
              <a:t>ปัญหาและเป้าหมายของโครงงาน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20624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6A"/>
                </a:solidFill>
                <a:latin typeface="Noto Sans Thai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170432"/>
            <a:ext cx="10927080" cy="0"/>
          </a:xfrm>
          <a:prstGeom prst="line">
            <a:avLst/>
          </a:prstGeom>
          <a:ln w="12700">
            <a:solidFill>
              <a:srgbClr val="CA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508760"/>
            <a:ext cx="3401568" cy="1554480"/>
          </a:xfrm>
          <a:prstGeom prst="roundRect">
            <a:avLst/>
          </a:prstGeom>
          <a:solidFill>
            <a:srgbClr val="F7F4EA"/>
          </a:solidFill>
          <a:ln w="12700">
            <a:solidFill>
              <a:srgbClr val="D5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719072"/>
            <a:ext cx="475488" cy="475488"/>
          </a:xfrm>
          <a:prstGeom prst="ellipse">
            <a:avLst/>
          </a:prstGeom>
          <a:solidFill>
            <a:srgbClr val="D5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28216"/>
            <a:ext cx="475488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82496"/>
            <a:ext cx="23317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7231F"/>
                </a:solidFill>
                <a:latin typeface="Noto Sans Thai"/>
              </a:rPr>
              <a:t>บันทึกด้วยมือ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292608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60706A"/>
                </a:solidFill>
                <a:latin typeface="Noto Sans Thai"/>
              </a:rPr>
              <a:t>ต้องคัดลอกชื่อสินค้าและราคา
ใช้เวลาและพิมพ์ผิดได้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508760"/>
            <a:ext cx="3401568" cy="1554480"/>
          </a:xfrm>
          <a:prstGeom prst="roundRect">
            <a:avLst/>
          </a:prstGeom>
          <a:solidFill>
            <a:srgbClr val="EAF2ED"/>
          </a:solidFill>
          <a:ln w="12700">
            <a:solidFill>
              <a:srgbClr val="A7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1719072"/>
            <a:ext cx="475488" cy="475488"/>
          </a:xfrm>
          <a:prstGeom prst="ellipse">
            <a:avLst/>
          </a:prstGeom>
          <a:solidFill>
            <a:srgbClr val="A7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28216"/>
            <a:ext cx="475488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682496"/>
            <a:ext cx="23317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7231F"/>
                </a:solidFill>
                <a:latin typeface="Noto Sans Thai"/>
              </a:rPr>
              <a:t>ข้อมูลส่วนตัว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176272"/>
            <a:ext cx="292608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60706A"/>
                </a:solidFill>
                <a:latin typeface="Noto Sans Thai"/>
              </a:rPr>
              <a:t>ใบเสร็จอาจมีชื่อ ที่อยู่
และประวัติการซื้อ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1508760"/>
            <a:ext cx="3401568" cy="1554480"/>
          </a:xfrm>
          <a:prstGeom prst="roundRect">
            <a:avLst/>
          </a:prstGeom>
          <a:solidFill>
            <a:srgbClr val="EAF2ED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719072"/>
            <a:ext cx="475488" cy="475488"/>
          </a:xfrm>
          <a:prstGeom prst="ellipse">
            <a:avLst/>
          </a:prstGeom>
          <a:solidFill>
            <a:srgbClr val="156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728216"/>
            <a:ext cx="475488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1682496"/>
            <a:ext cx="23317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7231F"/>
                </a:solidFill>
                <a:latin typeface="Noto Sans Thai"/>
              </a:rPr>
              <a:t>รูปแบบหลากหลาย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176272"/>
            <a:ext cx="292608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60706A"/>
                </a:solidFill>
                <a:latin typeface="Noto Sans Thai"/>
              </a:rPr>
              <a:t>ตาราง คำย่อ และส่วนลด
อยู่คนละตำแหน่ง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56432"/>
            <a:ext cx="10835640" cy="2267712"/>
          </a:xfrm>
          <a:prstGeom prst="roundRect">
            <a:avLst/>
          </a:prstGeom>
          <a:solidFill>
            <a:srgbClr val="0A4A37"/>
          </a:solidFill>
          <a:ln w="12700">
            <a:solidFill>
              <a:srgbClr val="0A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03320"/>
            <a:ext cx="1828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Thai"/>
              </a:rPr>
              <a:t>เป้าหมาย</a:t>
            </a:r>
          </a:p>
        </p:txBody>
      </p:sp>
      <p:sp>
        <p:nvSpPr>
          <p:cNvPr id="23" name="Oval 22"/>
          <p:cNvSpPr/>
          <p:nvPr/>
        </p:nvSpPr>
        <p:spPr>
          <a:xfrm>
            <a:off x="2971800" y="3657600"/>
            <a:ext cx="384048" cy="384048"/>
          </a:xfrm>
          <a:prstGeom prst="ellipse">
            <a:avLst/>
          </a:prstGeom>
          <a:solidFill>
            <a:srgbClr val="94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3666744"/>
            <a:ext cx="384048" cy="365759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3666744"/>
            <a:ext cx="72694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Noto Sans Thai"/>
              </a:rPr>
              <a:t>อ่านข้อความไทยและอังกฤษจากภาพใบเสร็จ</a:t>
            </a:r>
          </a:p>
        </p:txBody>
      </p:sp>
      <p:sp>
        <p:nvSpPr>
          <p:cNvPr id="26" name="Oval 25"/>
          <p:cNvSpPr/>
          <p:nvPr/>
        </p:nvSpPr>
        <p:spPr>
          <a:xfrm>
            <a:off x="2971800" y="4224528"/>
            <a:ext cx="384048" cy="384048"/>
          </a:xfrm>
          <a:prstGeom prst="ellipse">
            <a:avLst/>
          </a:prstGeom>
          <a:solidFill>
            <a:srgbClr val="94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4233672"/>
            <a:ext cx="384048" cy="365759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233672"/>
            <a:ext cx="72694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Noto Sans Thai"/>
              </a:rPr>
              <a:t>กรอกข้อมูลอัตโนมัติ แต่ให้ผู้ใช้ตรวจแก้ก่อนบันทึก</a:t>
            </a:r>
          </a:p>
        </p:txBody>
      </p:sp>
      <p:sp>
        <p:nvSpPr>
          <p:cNvPr id="29" name="Oval 28"/>
          <p:cNvSpPr/>
          <p:nvPr/>
        </p:nvSpPr>
        <p:spPr>
          <a:xfrm>
            <a:off x="2971800" y="4791456"/>
            <a:ext cx="384048" cy="384048"/>
          </a:xfrm>
          <a:prstGeom prst="ellipse">
            <a:avLst/>
          </a:prstGeom>
          <a:solidFill>
            <a:srgbClr val="94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4800600"/>
            <a:ext cx="384048" cy="365759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4800600"/>
            <a:ext cx="72694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Noto Sans Thai"/>
              </a:rPr>
              <a:t>เก็บข้อมูลและแสดง Dashboard โดยไม่ส่งภาพไป Cloud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6A"/>
                </a:solidFill>
                <a:latin typeface="Noto Sans Thai"/>
              </a:rPr>
              <a:t>ใบเสร็จดี · Offline AI Receipt Analyzer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046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60706A"/>
                </a:solidFill>
                <a:latin typeface="Noto Sans Thai"/>
              </a:rPr>
              <a:t>02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42416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A4A37"/>
                </a:solidFill>
                <a:latin typeface="Noto Sans Thai"/>
              </a:rPr>
              <a:t>ภาพรวมโครงสร้างระบบ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20624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6A"/>
                </a:solidFill>
                <a:latin typeface="Noto Sans Thai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170432"/>
            <a:ext cx="10927080" cy="0"/>
          </a:xfrm>
          <a:prstGeom prst="line">
            <a:avLst/>
          </a:prstGeom>
          <a:ln w="12700">
            <a:solidFill>
              <a:srgbClr val="CA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353312"/>
            <a:ext cx="10927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987" y="1554480"/>
            <a:ext cx="7525264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46120" y="5577840"/>
            <a:ext cx="5715000" cy="566928"/>
          </a:xfrm>
          <a:prstGeom prst="roundRect">
            <a:avLst/>
          </a:prstGeom>
          <a:solidFill>
            <a:srgbClr val="EAF2ED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715000"/>
            <a:ext cx="54406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150" b="1">
                <a:solidFill>
                  <a:srgbClr val="0A4A37"/>
                </a:solidFill>
                <a:latin typeface="Noto Sans Thai"/>
              </a:rPr>
              <a:t>โทรศัพท์เชื่อมผ่าน LAN · OCR, LLM, ฐานข้อมูล และเว็บอยู่บน Raspberry 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6A"/>
                </a:solidFill>
                <a:latin typeface="Noto Sans Thai"/>
              </a:rPr>
              <a:t>ใบเสร็จดี · Offline AI Receipt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046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60706A"/>
                </a:solidFill>
                <a:latin typeface="Noto Sans Thai"/>
              </a:rPr>
              <a:t>03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42416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A4A37"/>
                </a:solidFill>
                <a:latin typeface="Noto Sans Thai"/>
              </a:rPr>
              <a:t>การทำงานตั้งแต่รูปภาพถึง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20624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6A"/>
                </a:solidFill>
                <a:latin typeface="Noto Sans Thai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170432"/>
            <a:ext cx="10927080" cy="0"/>
          </a:xfrm>
          <a:prstGeom prst="line">
            <a:avLst/>
          </a:prstGeom>
          <a:ln w="12700">
            <a:solidFill>
              <a:srgbClr val="CA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536192"/>
            <a:ext cx="3337560" cy="1417320"/>
          </a:xfrm>
          <a:prstGeom prst="roundRect">
            <a:avLst/>
          </a:prstGeom>
          <a:solidFill>
            <a:srgbClr val="EAF2ED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737360"/>
            <a:ext cx="475488" cy="475488"/>
          </a:xfrm>
          <a:prstGeom prst="ellipse">
            <a:avLst/>
          </a:prstGeom>
          <a:solidFill>
            <a:srgbClr val="0A4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46504"/>
            <a:ext cx="475488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1719072"/>
            <a:ext cx="22402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0A4A37"/>
                </a:solidFill>
                <a:latin typeface="Noto Sans Thai"/>
              </a:rPr>
              <a:t>อัปโหลด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880360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20" b="0">
                <a:solidFill>
                  <a:srgbClr val="60706A"/>
                </a:solidFill>
                <a:latin typeface="Noto Sans Thai"/>
              </a:rPr>
              <a:t>JPG / PNG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50791" y="2249424"/>
            <a:ext cx="365761" cy="0"/>
          </a:xfrm>
          <a:prstGeom prst="line">
            <a:avLst/>
          </a:prstGeom>
          <a:ln w="25400">
            <a:solidFill>
              <a:srgbClr val="156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98848" y="1536192"/>
            <a:ext cx="3337560" cy="1417320"/>
          </a:xfrm>
          <a:prstGeom prst="roundRect">
            <a:avLst/>
          </a:prstGeom>
          <a:solidFill>
            <a:srgbClr val="EAF2ED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81728" y="1737360"/>
            <a:ext cx="475488" cy="475488"/>
          </a:xfrm>
          <a:prstGeom prst="ellipse">
            <a:avLst/>
          </a:prstGeom>
          <a:solidFill>
            <a:srgbClr val="0A4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746504"/>
            <a:ext cx="475488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719072"/>
            <a:ext cx="22402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0A4A37"/>
                </a:solidFill>
                <a:latin typeface="Noto Sans Thai"/>
              </a:rPr>
              <a:t>ปรับภาพ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286000"/>
            <a:ext cx="2880360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20" b="0">
                <a:solidFill>
                  <a:srgbClr val="60706A"/>
                </a:solidFill>
                <a:latin typeface="Noto Sans Thai"/>
              </a:rPr>
              <a:t>หมุน · ขยาย · เพิ่มความคม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36408" y="2249424"/>
            <a:ext cx="365759" cy="0"/>
          </a:xfrm>
          <a:prstGeom prst="line">
            <a:avLst/>
          </a:prstGeom>
          <a:ln w="25400">
            <a:solidFill>
              <a:srgbClr val="156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84463" y="1536192"/>
            <a:ext cx="3337560" cy="1417320"/>
          </a:xfrm>
          <a:prstGeom prst="roundRect">
            <a:avLst/>
          </a:prstGeom>
          <a:solidFill>
            <a:srgbClr val="EAF2ED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67343" y="1737360"/>
            <a:ext cx="475488" cy="475488"/>
          </a:xfrm>
          <a:prstGeom prst="ellipse">
            <a:avLst/>
          </a:prstGeom>
          <a:solidFill>
            <a:srgbClr val="0A4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3" y="1746504"/>
            <a:ext cx="475488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7" y="1719072"/>
            <a:ext cx="22402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0A4A37"/>
                </a:solidFill>
                <a:latin typeface="Noto Sans Thai"/>
              </a:rPr>
              <a:t>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286000"/>
            <a:ext cx="2880360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20" b="0">
                <a:solidFill>
                  <a:srgbClr val="60706A"/>
                </a:solidFill>
                <a:latin typeface="Noto Sans Thai"/>
              </a:rPr>
              <a:t>อ่านข้อความไทย–อังกฤษ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593591"/>
            <a:ext cx="3337560" cy="1417320"/>
          </a:xfrm>
          <a:prstGeom prst="roundRect">
            <a:avLst/>
          </a:prstGeom>
          <a:solidFill>
            <a:srgbClr val="F7F4EA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6112" y="3794759"/>
            <a:ext cx="475488" cy="475488"/>
          </a:xfrm>
          <a:prstGeom prst="ellipse">
            <a:avLst/>
          </a:prstGeom>
          <a:solidFill>
            <a:srgbClr val="94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803903"/>
            <a:ext cx="475488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3776472"/>
            <a:ext cx="22402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0A4A37"/>
                </a:solidFill>
                <a:latin typeface="Noto Sans Thai"/>
              </a:rPr>
              <a:t>Parser + 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43400"/>
            <a:ext cx="2880360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20" b="0">
                <a:solidFill>
                  <a:srgbClr val="60706A"/>
                </a:solidFill>
                <a:latin typeface="Noto Sans Thai"/>
              </a:rPr>
              <a:t>แยกร้าน สินค้า จำนวน ราคา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50791" y="4306824"/>
            <a:ext cx="365761" cy="0"/>
          </a:xfrm>
          <a:prstGeom prst="line">
            <a:avLst/>
          </a:prstGeom>
          <a:ln w="25400">
            <a:solidFill>
              <a:srgbClr val="156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98848" y="3593591"/>
            <a:ext cx="3337560" cy="1417320"/>
          </a:xfrm>
          <a:prstGeom prst="roundRect">
            <a:avLst/>
          </a:prstGeom>
          <a:solidFill>
            <a:srgbClr val="F7F4EA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3794759"/>
            <a:ext cx="475488" cy="475488"/>
          </a:xfrm>
          <a:prstGeom prst="ellipse">
            <a:avLst/>
          </a:prstGeom>
          <a:solidFill>
            <a:srgbClr val="0A4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803903"/>
            <a:ext cx="475488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2" y="3776472"/>
            <a:ext cx="22402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0A4A37"/>
                </a:solidFill>
                <a:latin typeface="Noto Sans Thai"/>
              </a:rPr>
              <a:t>ตรวจแก้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4343400"/>
            <a:ext cx="2880360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20" b="0">
                <a:solidFill>
                  <a:srgbClr val="60706A"/>
                </a:solidFill>
                <a:latin typeface="Noto Sans Thai"/>
              </a:rPr>
              <a:t>ผู้ใช้ยืนยันข้อมูล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36408" y="4306824"/>
            <a:ext cx="365759" cy="0"/>
          </a:xfrm>
          <a:prstGeom prst="line">
            <a:avLst/>
          </a:prstGeom>
          <a:ln w="25400">
            <a:solidFill>
              <a:srgbClr val="156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84463" y="3593591"/>
            <a:ext cx="3337560" cy="1417320"/>
          </a:xfrm>
          <a:prstGeom prst="roundRect">
            <a:avLst/>
          </a:prstGeom>
          <a:solidFill>
            <a:srgbClr val="F7F4EA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67343" y="3794759"/>
            <a:ext cx="475488" cy="475488"/>
          </a:xfrm>
          <a:prstGeom prst="ellipse">
            <a:avLst/>
          </a:prstGeom>
          <a:solidFill>
            <a:srgbClr val="0A4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3" y="3803903"/>
            <a:ext cx="475488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7" y="3776472"/>
            <a:ext cx="22402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0A4A37"/>
                </a:solidFill>
                <a:latin typeface="Noto Sans Thai"/>
              </a:rPr>
              <a:t>บันทึก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4343400"/>
            <a:ext cx="2880360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20" b="0">
                <a:solidFill>
                  <a:srgbClr val="60706A"/>
                </a:solidFill>
                <a:latin typeface="Noto Sans Thai"/>
              </a:rPr>
              <a:t>SQLite →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833872"/>
            <a:ext cx="7726679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A75643"/>
                </a:solidFill>
                <a:latin typeface="Noto Sans Thai"/>
              </a:rPr>
              <a:t>AI สร้าง “ร่างข้อมูล” เท่านั้น — ผู้ใช้เป็นผู้ยืนยันผลสุดท้าย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6A"/>
                </a:solidFill>
                <a:latin typeface="Noto Sans Thai"/>
              </a:rPr>
              <a:t>ใบเสร็จดี · Offline AI Receipt Analyzer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046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60706A"/>
                </a:solidFill>
                <a:latin typeface="Noto Sans Thai"/>
              </a:rPr>
              <a:t>04 ·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42416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A4A37"/>
                </a:solidFill>
                <a:latin typeface="Noto Sans Thai"/>
              </a:rPr>
              <a:t>เครื่องมือที่ใช้และหน้าที่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20624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6A"/>
                </a:solidFill>
                <a:latin typeface="Noto Sans Thai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170432"/>
            <a:ext cx="10927080" cy="0"/>
          </a:xfrm>
          <a:prstGeom prst="line">
            <a:avLst/>
          </a:prstGeom>
          <a:ln w="12700">
            <a:solidFill>
              <a:srgbClr val="CA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17320"/>
            <a:ext cx="51663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325880" cy="1901952"/>
          </a:xfrm>
          <a:prstGeom prst="roundRect">
            <a:avLst/>
          </a:prstGeom>
          <a:solidFill>
            <a:srgbClr val="0A4A37"/>
          </a:solidFill>
          <a:ln w="12700">
            <a:solidFill>
              <a:srgbClr val="0A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57400"/>
            <a:ext cx="1170432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Thai"/>
              </a:rPr>
              <a:t>อุปกรณ์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1991" y="1691640"/>
            <a:ext cx="1874519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80" b="1">
                <a:solidFill>
                  <a:srgbClr val="17231F"/>
                </a:solidFill>
                <a:latin typeface="Noto Sans"/>
              </a:rPr>
              <a:t>Raspberry Pi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691640"/>
            <a:ext cx="141732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70" b="0">
                <a:solidFill>
                  <a:srgbClr val="60706A"/>
                </a:solidFill>
                <a:latin typeface="Noto Sans Thai"/>
              </a:rPr>
              <a:t>ประมวลผลและเก็บข้อมูล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1" y="2496312"/>
            <a:ext cx="1874519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80" b="1">
                <a:solidFill>
                  <a:srgbClr val="17231F"/>
                </a:solidFill>
                <a:latin typeface="Noto Sans"/>
              </a:rPr>
              <a:t>Wi-Fi / 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496312"/>
            <a:ext cx="141732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70" b="0">
                <a:solidFill>
                  <a:srgbClr val="60706A"/>
                </a:solidFill>
                <a:latin typeface="Noto Sans Thai"/>
              </a:rPr>
              <a:t>เชื่อมโทรศัพท์กับ 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1663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1325880" cy="1901952"/>
          </a:xfrm>
          <a:prstGeom prst="roundRect">
            <a:avLst/>
          </a:prstGeom>
          <a:solidFill>
            <a:srgbClr val="15664B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057400"/>
            <a:ext cx="1170432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Tha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1691640"/>
            <a:ext cx="1874519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80" b="1">
                <a:solidFill>
                  <a:srgbClr val="17231F"/>
                </a:solidFill>
                <a:latin typeface="Noto Sans"/>
              </a:rPr>
              <a:t>Flask + Waitress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1691640"/>
            <a:ext cx="141732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70" b="0">
                <a:solidFill>
                  <a:srgbClr val="60706A"/>
                </a:solidFill>
                <a:latin typeface="Noto Sans Thai"/>
              </a:rPr>
              <a:t>เว็บและควบคุม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2496312"/>
            <a:ext cx="1874519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80" b="1">
                <a:solidFill>
                  <a:srgbClr val="17231F"/>
                </a:solidFill>
                <a:latin typeface="Noto Sans"/>
              </a:rPr>
              <a:t>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2496312"/>
            <a:ext cx="141732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70" b="0">
                <a:solidFill>
                  <a:srgbClr val="60706A"/>
                </a:solidFill>
                <a:latin typeface="Noto Sans Thai"/>
              </a:rPr>
              <a:t>ฐานข้อมูลใบเสร็จ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85032"/>
            <a:ext cx="51663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B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685032"/>
            <a:ext cx="1325880" cy="1901952"/>
          </a:xfrm>
          <a:prstGeom prst="roundRect">
            <a:avLst/>
          </a:prstGeom>
          <a:solidFill>
            <a:srgbClr val="94B853"/>
          </a:solidFill>
          <a:ln w="12700">
            <a:solidFill>
              <a:srgbClr val="94B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325112"/>
            <a:ext cx="1170432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Thai"/>
              </a:rPr>
              <a:t>OCR &amp;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1991" y="3959352"/>
            <a:ext cx="1874519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80" b="1">
                <a:solidFill>
                  <a:srgbClr val="17231F"/>
                </a:solidFill>
                <a:latin typeface="Noto Sans"/>
              </a:rPr>
              <a:t>Pillow + Tesseract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3959352"/>
            <a:ext cx="141732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70" b="0">
                <a:solidFill>
                  <a:srgbClr val="60706A"/>
                </a:solidFill>
                <a:latin typeface="Noto Sans Thai"/>
              </a:rPr>
              <a:t>ปรับภาพและอ่านข้อความ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1991" y="4764024"/>
            <a:ext cx="1874519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80" b="1">
                <a:solidFill>
                  <a:srgbClr val="17231F"/>
                </a:solidFill>
                <a:latin typeface="Noto Sans"/>
              </a:rPr>
              <a:t>Qwen + llama.cpp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4764024"/>
            <a:ext cx="141732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70" b="0">
                <a:solidFill>
                  <a:srgbClr val="60706A"/>
                </a:solidFill>
                <a:latin typeface="Noto Sans Thai"/>
              </a:rPr>
              <a:t>วิเคราะห์ข้อความในเครื่อง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685032"/>
            <a:ext cx="51663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3685032"/>
            <a:ext cx="1325880" cy="1901952"/>
          </a:xfrm>
          <a:prstGeom prst="roundRect">
            <a:avLst/>
          </a:prstGeom>
          <a:solidFill>
            <a:srgbClr val="D5A84B"/>
          </a:solidFill>
          <a:ln w="12700">
            <a:solidFill>
              <a:srgbClr val="D5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325112"/>
            <a:ext cx="1170432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Thai"/>
              </a:rPr>
              <a:t>หน้าจอ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3959352"/>
            <a:ext cx="1874519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80" b="1">
                <a:solidFill>
                  <a:srgbClr val="17231F"/>
                </a:solidFill>
                <a:latin typeface="Noto Sans"/>
              </a:rPr>
              <a:t>HTML / Bootstrap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3959352"/>
            <a:ext cx="141732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70" b="0">
                <a:solidFill>
                  <a:srgbClr val="60706A"/>
                </a:solidFill>
                <a:latin typeface="Noto Sans Thai"/>
              </a:rPr>
              <a:t>ส่วนติดต่อผู้ใช้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4764024"/>
            <a:ext cx="1874519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80" b="1">
                <a:solidFill>
                  <a:srgbClr val="17231F"/>
                </a:solidFill>
                <a:latin typeface="Noto Sans"/>
              </a:rPr>
              <a:t>JavaScript / Chart.js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4764024"/>
            <a:ext cx="141732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70" b="0">
                <a:solidFill>
                  <a:srgbClr val="60706A"/>
                </a:solidFill>
                <a:latin typeface="Noto Sans Thai"/>
              </a:rPr>
              <a:t>คำนวณและแสดงกราฟ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6A"/>
                </a:solidFill>
                <a:latin typeface="Noto Sans Thai"/>
              </a:rPr>
              <a:t>ใบเสร็จดี · Offline AI Receipt Analyzer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046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60706A"/>
                </a:solidFill>
                <a:latin typeface="Noto Sans Thai"/>
              </a:rPr>
              <a:t>05 · LOCAL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42416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A4A37"/>
                </a:solidFill>
                <a:latin typeface="Noto Sans Thai"/>
              </a:rPr>
              <a:t>LLM เกี่ยวข้องกับระบบอย่างไร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20624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6A"/>
                </a:solidFill>
                <a:latin typeface="Noto Sans Thai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170432"/>
            <a:ext cx="10927080" cy="0"/>
          </a:xfrm>
          <a:prstGeom prst="line">
            <a:avLst/>
          </a:prstGeom>
          <a:ln w="12700">
            <a:solidFill>
              <a:srgbClr val="CA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572768"/>
            <a:ext cx="2395728" cy="1691640"/>
          </a:xfrm>
          <a:prstGeom prst="roundRect">
            <a:avLst/>
          </a:prstGeom>
          <a:solidFill>
            <a:srgbClr val="EAF2ED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28800"/>
            <a:ext cx="217627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15664B"/>
                </a:solidFill>
                <a:latin typeface="Noto Sans Thai"/>
              </a:rPr>
              <a:t>Tesseract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04288"/>
            <a:ext cx="2066543" cy="6217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60706A"/>
                </a:solidFill>
                <a:latin typeface="Noto Sans Thai"/>
              </a:rPr>
              <a:t>อ่านตัวอักษร
จากภาพ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2148840"/>
            <a:ext cx="384048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>
                <a:solidFill>
                  <a:srgbClr val="15664B"/>
                </a:solidFill>
                <a:latin typeface="Noto Sans Tha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1572768"/>
            <a:ext cx="2395728" cy="1691640"/>
          </a:xfrm>
          <a:prstGeom prst="roundRect">
            <a:avLst/>
          </a:prstGeom>
          <a:solidFill>
            <a:srgbClr val="F7F4EA"/>
          </a:solidFill>
          <a:ln w="12700">
            <a:solidFill>
              <a:srgbClr val="D5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828800"/>
            <a:ext cx="217627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D5A84B"/>
                </a:solidFill>
                <a:latin typeface="Noto Sans Thai"/>
              </a:rPr>
              <a:t>Python Parser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304288"/>
            <a:ext cx="2066543" cy="6217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60706A"/>
                </a:solidFill>
                <a:latin typeface="Noto Sans Thai"/>
              </a:rPr>
              <a:t>จับวันที่ ราคา
และรูปแบบตาราง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6" y="2148840"/>
            <a:ext cx="384048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>
                <a:solidFill>
                  <a:srgbClr val="15664B"/>
                </a:solidFill>
                <a:latin typeface="Noto Sans Tha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1572768"/>
            <a:ext cx="2395728" cy="1691640"/>
          </a:xfrm>
          <a:prstGeom prst="roundRect">
            <a:avLst/>
          </a:prstGeom>
          <a:solidFill>
            <a:srgbClr val="EAF2ED"/>
          </a:solidFill>
          <a:ln w="12700">
            <a:solidFill>
              <a:srgbClr val="94B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828800"/>
            <a:ext cx="217627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94B853"/>
                </a:solidFill>
                <a:latin typeface="Noto Sans Thai"/>
              </a:rPr>
              <a:t>Qwen2.5-0.5B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304288"/>
            <a:ext cx="2066543" cy="6217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60706A"/>
                </a:solidFill>
                <a:latin typeface="Noto Sans Thai"/>
              </a:rPr>
              <a:t>เข้าใจว่าข้อความ
คือข้อมูลประเภทใด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384" y="2148840"/>
            <a:ext cx="384048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>
                <a:solidFill>
                  <a:srgbClr val="15664B"/>
                </a:solidFill>
                <a:latin typeface="Noto Sans Tha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17152" y="1572768"/>
            <a:ext cx="2395728" cy="1691640"/>
          </a:xfrm>
          <a:prstGeom prst="roundRect">
            <a:avLst/>
          </a:prstGeom>
          <a:solidFill>
            <a:srgbClr val="F7F4EA"/>
          </a:solidFill>
          <a:ln w="12700">
            <a:solidFill>
              <a:srgbClr val="0A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17627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A4A37"/>
                </a:solidFill>
                <a:latin typeface="Noto Sans Thai"/>
              </a:rPr>
              <a:t>JSON → ฟอร์ม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304288"/>
            <a:ext cx="2066543" cy="6217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60706A"/>
                </a:solidFill>
                <a:latin typeface="Noto Sans Thai"/>
              </a:rPr>
              <a:t>กรอกข้อมูลให้
ผู้ใช้ตรวจแก้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10972800" cy="1737360"/>
          </a:xfrm>
          <a:prstGeom prst="roundRect">
            <a:avLst/>
          </a:prstGeom>
          <a:solidFill>
            <a:srgbClr val="0A4A37"/>
          </a:solidFill>
          <a:ln w="12700">
            <a:solidFill>
              <a:srgbClr val="0A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968496"/>
            <a:ext cx="20116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Noto Sans Thai"/>
              </a:rPr>
              <a:t>ประเด็นสำคัญ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886200"/>
            <a:ext cx="8001000" cy="1234440"/>
          </a:xfrm>
          <a:prstGeom prst="rect">
            <a:avLst/>
          </a:prstGeom>
          <a:noFill/>
        </p:spPr>
        <p:txBody>
          <a:bodyPr wrap="square" lIns="36576" rIns="18288" tIns="18288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4B853"/>
                </a:solidFill>
                <a:latin typeface="Noto Sans Thai"/>
              </a:rPr>
              <a:t>●  LLM รับ “ข้อความจาก OCR” ไม่ได้รับรูปภาพโดยตรง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94B853"/>
                </a:solidFill>
                <a:latin typeface="Noto Sans Thai"/>
              </a:rPr>
              <a:t>●  รันผ่าน llama.cpp ภายใน Raspberry Pi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94B853"/>
                </a:solidFill>
                <a:latin typeface="Noto Sans Thai"/>
              </a:rPr>
              <a:t>●  ใช้โมเดลแบบ quantized เพื่อลดภาระ CPU และหน่วยความจำ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6A"/>
                </a:solidFill>
                <a:latin typeface="Noto Sans Thai"/>
              </a:rPr>
              <a:t>ใบเสร็จดี · Offline AI Receipt Analyzer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046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60706A"/>
                </a:solidFill>
                <a:latin typeface="Noto Sans Thai"/>
              </a:rPr>
              <a:t>06 ·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42416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A4A37"/>
                </a:solidFill>
                <a:latin typeface="Noto Sans Thai"/>
              </a:rPr>
              <a:t>หน้าจอหลักของระบบ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20624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6A"/>
                </a:solidFill>
                <a:latin typeface="Noto Sans Thai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170432"/>
            <a:ext cx="10927080" cy="0"/>
          </a:xfrm>
          <a:prstGeom prst="line">
            <a:avLst/>
          </a:prstGeom>
          <a:ln w="12700">
            <a:solidFill>
              <a:srgbClr val="CA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21792" y="1417320"/>
            <a:ext cx="3493008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18488"/>
            <a:ext cx="312724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A4A37"/>
                </a:solidFill>
                <a:latin typeface="Noto Sans Thai"/>
              </a:rPr>
              <a:t>1 · อัปโหลด</a:t>
            </a:r>
          </a:p>
        </p:txBody>
      </p:sp>
      <p:pic>
        <p:nvPicPr>
          <p:cNvPr id="8" name="Picture 7" descr="01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470277"/>
            <a:ext cx="3163823" cy="23289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358384"/>
            <a:ext cx="309067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80" b="0">
                <a:solidFill>
                  <a:srgbClr val="60706A"/>
                </a:solidFill>
                <a:latin typeface="Noto Sans Thai"/>
              </a:rPr>
              <a:t>เลือกภาพใบเสร็จ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3" y="1417320"/>
            <a:ext cx="3493008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618488"/>
            <a:ext cx="312724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A4A37"/>
                </a:solidFill>
                <a:latin typeface="Noto Sans Thai"/>
              </a:rPr>
              <a:t>2 · ตรวจแก้</a:t>
            </a:r>
          </a:p>
        </p:txBody>
      </p:sp>
      <p:pic>
        <p:nvPicPr>
          <p:cNvPr id="12" name="Picture 11" descr="02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5" y="2014378"/>
            <a:ext cx="3163823" cy="32407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45151" y="5358384"/>
            <a:ext cx="309067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80" b="0">
                <a:solidFill>
                  <a:srgbClr val="60706A"/>
                </a:solidFill>
                <a:latin typeface="Noto Sans Thai"/>
              </a:rPr>
              <a:t>แก้ข้อมูลก่อนบันทึก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417320"/>
            <a:ext cx="3493008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5" y="1618488"/>
            <a:ext cx="312724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A4A37"/>
                </a:solidFill>
                <a:latin typeface="Noto Sans Thai"/>
              </a:rPr>
              <a:t>3 · Dashboard</a:t>
            </a:r>
          </a:p>
        </p:txBody>
      </p:sp>
      <p:pic>
        <p:nvPicPr>
          <p:cNvPr id="16" name="Picture 15" descr="03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7" y="2470277"/>
            <a:ext cx="3163823" cy="232892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67344" y="5358384"/>
            <a:ext cx="309067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80" b="0">
                <a:solidFill>
                  <a:srgbClr val="60706A"/>
                </a:solidFill>
                <a:latin typeface="Noto Sans Thai"/>
              </a:rPr>
              <a:t>ดูยอดและประวัติ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6A"/>
                </a:solidFill>
                <a:latin typeface="Noto Sans Thai"/>
              </a:rPr>
              <a:t>ใบเสร็จดี · Offline AI Receipt Analyzer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8046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60706A"/>
                </a:solidFill>
                <a:latin typeface="Noto Sans Thai"/>
              </a:rPr>
              <a:t>07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1042416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A4A37"/>
                </a:solidFill>
                <a:latin typeface="Noto Sans Thai"/>
              </a:rPr>
              <a:t>ผลที่ได้และข้อจำกัด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20624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0706A"/>
                </a:solidFill>
                <a:latin typeface="Noto Sans Thai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170432"/>
            <a:ext cx="10927080" cy="0"/>
          </a:xfrm>
          <a:prstGeom prst="line">
            <a:avLst/>
          </a:prstGeom>
          <a:ln w="12700">
            <a:solidFill>
              <a:srgbClr val="CA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44752"/>
            <a:ext cx="5193792" cy="4526280"/>
          </a:xfrm>
          <a:prstGeom prst="roundRect">
            <a:avLst/>
          </a:prstGeom>
          <a:solidFill>
            <a:srgbClr val="EAF2ED"/>
          </a:solidFill>
          <a:ln w="12700">
            <a:solidFill>
              <a:srgbClr val="156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7432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0A4A37"/>
                </a:solidFill>
                <a:latin typeface="Noto Sans Thai"/>
              </a:rPr>
              <a:t>ผลที่ตรวจแล้ว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340864"/>
            <a:ext cx="1353312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50" b="1">
                <a:solidFill>
                  <a:srgbClr val="15664B"/>
                </a:solidFill>
                <a:latin typeface="Noto Sans"/>
              </a:rPr>
              <a:t>50/50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359152"/>
            <a:ext cx="3035808" cy="40233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7231F"/>
                </a:solidFill>
                <a:latin typeface="Noto Sans Thai"/>
              </a:rPr>
              <a:t>Automated tests ผ่าน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090672"/>
            <a:ext cx="1353312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50" b="1">
                <a:solidFill>
                  <a:srgbClr val="15664B"/>
                </a:solidFill>
                <a:latin typeface="Noto Sans"/>
              </a:rPr>
              <a:t>Pi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108960"/>
            <a:ext cx="3035808" cy="40233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7231F"/>
                </a:solidFill>
                <a:latin typeface="Noto Sans Thai"/>
              </a:rPr>
              <a:t>OCR, Local LLM และเว็บเริ่มทำงานได้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840480"/>
            <a:ext cx="1353312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50" b="1">
                <a:solidFill>
                  <a:srgbClr val="15664B"/>
                </a:solidFill>
                <a:latin typeface="Noto Sans"/>
              </a:rPr>
              <a:t>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858768"/>
            <a:ext cx="3035808" cy="40233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7231F"/>
                </a:solidFill>
                <a:latin typeface="Noto Sans Thai"/>
              </a:rPr>
              <a:t>เปิดเว็บจากอุปกรณ์ในเครือข่ายเดียวกัน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590288"/>
            <a:ext cx="1353312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50" b="1">
                <a:solidFill>
                  <a:srgbClr val="15664B"/>
                </a:solidFill>
                <a:latin typeface="Noto Sans"/>
              </a:rPr>
              <a:t>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608575"/>
            <a:ext cx="3035808" cy="40233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17231F"/>
                </a:solidFill>
                <a:latin typeface="Noto Sans Thai"/>
              </a:rPr>
              <a:t>ไม่เรียก Cloud AI ระหว่างใช้งาน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444752"/>
            <a:ext cx="5376672" cy="4526280"/>
          </a:xfrm>
          <a:prstGeom prst="roundRect">
            <a:avLst/>
          </a:prstGeom>
          <a:solidFill>
            <a:srgbClr val="F7F4EA"/>
          </a:solidFill>
          <a:ln w="12700">
            <a:solidFill>
              <a:srgbClr val="D5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737360"/>
            <a:ext cx="22860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A75643"/>
                </a:solidFill>
                <a:latin typeface="Noto Sans Thai"/>
              </a:rPr>
              <a:t>ข้อจำกัด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4572000" cy="2697480"/>
          </a:xfrm>
          <a:prstGeom prst="rect">
            <a:avLst/>
          </a:prstGeom>
          <a:noFill/>
        </p:spPr>
        <p:txBody>
          <a:bodyPr wrap="square" lIns="36576" rIns="18288" tIns="18288">
            <a:spAutoFit/>
          </a:bodyPr>
          <a:lstStyle/>
          <a:p>
            <a:pPr>
              <a:spcAft>
                <a:spcPts val="800"/>
              </a:spcAft>
            </a:pPr>
            <a:r>
              <a:rPr sz="1320" b="0">
                <a:solidFill>
                  <a:srgbClr val="A75643"/>
                </a:solidFill>
                <a:latin typeface="Noto Sans Thai"/>
              </a:rPr>
              <a:t>●  ภาพเบลอหรือแสงสะท้อนทำให้ OCR อ่านผิด</a:t>
            </a:r>
          </a:p>
          <a:p>
            <a:pPr>
              <a:spcAft>
                <a:spcPts val="800"/>
              </a:spcAft>
            </a:pPr>
            <a:r>
              <a:rPr sz="1320" b="0">
                <a:solidFill>
                  <a:srgbClr val="A75643"/>
                </a:solidFill>
                <a:latin typeface="Noto Sans Thai"/>
              </a:rPr>
              <a:t>●  ใบเสร็จแต่ละร้านมีรูปแบบและโปรโมชั่นต่างกัน</a:t>
            </a:r>
          </a:p>
          <a:p>
            <a:pPr>
              <a:spcAft>
                <a:spcPts val="800"/>
              </a:spcAft>
            </a:pPr>
            <a:r>
              <a:rPr sz="1320" b="0">
                <a:solidFill>
                  <a:srgbClr val="A75643"/>
                </a:solidFill>
                <a:latin typeface="Noto Sans Thai"/>
              </a:rPr>
              <a:t>●  โมเดลขนาดเล็กช้ากว่า Cloud และอาจแยกข้อมูลผิด</a:t>
            </a:r>
          </a:p>
          <a:p>
            <a:pPr>
              <a:spcAft>
                <a:spcPts val="800"/>
              </a:spcAft>
            </a:pPr>
            <a:r>
              <a:rPr sz="1320" b="0">
                <a:solidFill>
                  <a:srgbClr val="A75643"/>
                </a:solidFill>
                <a:latin typeface="Noto Sans Thai"/>
              </a:rPr>
              <a:t>●  ผู้ใช้ต้องตรวจและแก้ข้อมูลก่อนบันทึก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257800"/>
            <a:ext cx="45720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0706A"/>
                </a:solidFill>
                <a:latin typeface="Noto Sans Thai"/>
              </a:rPr>
              <a:t>ระบบเป็นต้นแบบสำหรับใบเสร็จพิมพ์ชัดเจน 2–3 รูปแบบ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9672"/>
            <a:ext cx="45720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60706A"/>
                </a:solidFill>
                <a:latin typeface="Noto Sans Thai"/>
              </a:rPr>
              <a:t>ใบเสร็จดี · Offline AI Receipt Analyzer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58368"/>
            <a:ext cx="1828800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94B853"/>
                </a:solidFill>
                <a:latin typeface="Noto Sans Thai"/>
              </a:rPr>
              <a:t>สรุป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629400" cy="1508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Noto Sans Thai"/>
              </a:rPr>
              <a:t>OCR อ่าน · LLM เข้าใจ
ผู้ใช้ตรวจ · Dashboard สรุป</a:t>
            </a:r>
          </a:p>
        </p:txBody>
      </p:sp>
      <p:sp>
        <p:nvSpPr>
          <p:cNvPr id="4" name="Oval 3"/>
          <p:cNvSpPr/>
          <p:nvPr/>
        </p:nvSpPr>
        <p:spPr>
          <a:xfrm>
            <a:off x="786384" y="3200400"/>
            <a:ext cx="384048" cy="384048"/>
          </a:xfrm>
          <a:prstGeom prst="ellipse">
            <a:avLst/>
          </a:prstGeom>
          <a:solidFill>
            <a:srgbClr val="94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3209544"/>
            <a:ext cx="384048" cy="365759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0"/>
            <a:ext cx="557784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Noto Sans Thai"/>
              </a:rPr>
              <a:t>ประมวลผลอยู่ภายใน Raspberry Pi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3767328"/>
            <a:ext cx="384048" cy="384048"/>
          </a:xfrm>
          <a:prstGeom prst="ellipse">
            <a:avLst/>
          </a:prstGeom>
          <a:solidFill>
            <a:srgbClr val="94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776472"/>
            <a:ext cx="384048" cy="365759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767328"/>
            <a:ext cx="557784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Noto Sans Thai"/>
              </a:rPr>
              <a:t>ลดการส่งข้อมูลใบเสร็จไปบริการภายนอก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4334256"/>
            <a:ext cx="384048" cy="384048"/>
          </a:xfrm>
          <a:prstGeom prst="ellipse">
            <a:avLst/>
          </a:prstGeom>
          <a:solidFill>
            <a:srgbClr val="94B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343400"/>
            <a:ext cx="384048" cy="365759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34256"/>
            <a:ext cx="557784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Noto Sans Thai"/>
              </a:rPr>
              <a:t>แก้ไขผล AI ได้ก่อนบันทึกทุกครั้ง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685800"/>
            <a:ext cx="37033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1024128"/>
            <a:ext cx="301752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0A4A37"/>
                </a:solidFill>
                <a:latin typeface="Noto Sans Thai"/>
              </a:rPr>
              <a:t>ลำดับสาธิต</a:t>
            </a:r>
          </a:p>
        </p:txBody>
      </p:sp>
      <p:sp>
        <p:nvSpPr>
          <p:cNvPr id="15" name="Oval 14"/>
          <p:cNvSpPr/>
          <p:nvPr/>
        </p:nvSpPr>
        <p:spPr>
          <a:xfrm>
            <a:off x="8092440" y="1737360"/>
            <a:ext cx="402336" cy="402336"/>
          </a:xfrm>
          <a:prstGeom prst="ellipse">
            <a:avLst/>
          </a:prstGeom>
          <a:solidFill>
            <a:srgbClr val="156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46504"/>
            <a:ext cx="40233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1764792"/>
            <a:ext cx="224028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7231F"/>
                </a:solidFill>
                <a:latin typeface="Noto Sans Thai"/>
              </a:rPr>
              <a:t>อัปโหลดภาพ</a:t>
            </a:r>
          </a:p>
        </p:txBody>
      </p:sp>
      <p:sp>
        <p:nvSpPr>
          <p:cNvPr id="18" name="Oval 17"/>
          <p:cNvSpPr/>
          <p:nvPr/>
        </p:nvSpPr>
        <p:spPr>
          <a:xfrm>
            <a:off x="8092440" y="2450591"/>
            <a:ext cx="402336" cy="402336"/>
          </a:xfrm>
          <a:prstGeom prst="ellipse">
            <a:avLst/>
          </a:prstGeom>
          <a:solidFill>
            <a:srgbClr val="156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459735"/>
            <a:ext cx="40233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478024"/>
            <a:ext cx="224028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7231F"/>
                </a:solidFill>
                <a:latin typeface="Noto Sans Thai"/>
              </a:rPr>
              <a:t>รอ OCR + AI</a:t>
            </a:r>
          </a:p>
        </p:txBody>
      </p:sp>
      <p:sp>
        <p:nvSpPr>
          <p:cNvPr id="21" name="Oval 20"/>
          <p:cNvSpPr/>
          <p:nvPr/>
        </p:nvSpPr>
        <p:spPr>
          <a:xfrm>
            <a:off x="8092440" y="3163824"/>
            <a:ext cx="402336" cy="402336"/>
          </a:xfrm>
          <a:prstGeom prst="ellipse">
            <a:avLst/>
          </a:prstGeom>
          <a:solidFill>
            <a:srgbClr val="156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3172968"/>
            <a:ext cx="40233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3191256"/>
            <a:ext cx="224028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7231F"/>
                </a:solidFill>
                <a:latin typeface="Noto Sans Thai"/>
              </a:rPr>
              <a:t>ตรวจและแก้ข้อมูล</a:t>
            </a:r>
          </a:p>
        </p:txBody>
      </p:sp>
      <p:sp>
        <p:nvSpPr>
          <p:cNvPr id="24" name="Oval 23"/>
          <p:cNvSpPr/>
          <p:nvPr/>
        </p:nvSpPr>
        <p:spPr>
          <a:xfrm>
            <a:off x="8092440" y="3877056"/>
            <a:ext cx="402336" cy="402336"/>
          </a:xfrm>
          <a:prstGeom prst="ellipse">
            <a:avLst/>
          </a:prstGeom>
          <a:solidFill>
            <a:srgbClr val="156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3886200"/>
            <a:ext cx="40233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224" y="3904487"/>
            <a:ext cx="224028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7231F"/>
                </a:solidFill>
                <a:latin typeface="Noto Sans Thai"/>
              </a:rPr>
              <a:t>ยืนยันบันทึก</a:t>
            </a:r>
          </a:p>
        </p:txBody>
      </p:sp>
      <p:sp>
        <p:nvSpPr>
          <p:cNvPr id="27" name="Oval 26"/>
          <p:cNvSpPr/>
          <p:nvPr/>
        </p:nvSpPr>
        <p:spPr>
          <a:xfrm>
            <a:off x="8092440" y="4590288"/>
            <a:ext cx="402336" cy="402336"/>
          </a:xfrm>
          <a:prstGeom prst="ellipse">
            <a:avLst/>
          </a:prstGeom>
          <a:solidFill>
            <a:srgbClr val="156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4599431"/>
            <a:ext cx="402336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Tha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4617720"/>
            <a:ext cx="224028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7231F"/>
                </a:solidFill>
                <a:latin typeface="Noto Sans Thai"/>
              </a:rPr>
              <a:t>เปิด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870448"/>
            <a:ext cx="29260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Thai"/>
              </a:rPr>
              <a:t>ขอบคุณครับ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5669280"/>
            <a:ext cx="13716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0A4A37"/>
                </a:solidFill>
                <a:latin typeface="Noto Sans Tha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ใบเสร็จดี — Offline AI Receipt Analyzer</dc:title>
  <dc:subject>Project IoT presentation</dc:subject>
  <dc:creator>[กรอกชื่อผู้จัดทำ]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