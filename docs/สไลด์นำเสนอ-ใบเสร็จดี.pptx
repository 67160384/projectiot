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37960" y="502920"/>
            <a:ext cx="5074920" cy="5852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9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ashboard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793875"/>
            <a:ext cx="4709160" cy="32702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685800"/>
            <a:ext cx="530352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15664B"/>
                </a:solidFill>
                <a:latin typeface="Noto Sans Thai"/>
              </a:rPr>
              <a:t>PROJECT IOT · EDGE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98448"/>
            <a:ext cx="5394960" cy="65836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3400" b="1">
                <a:solidFill>
                  <a:srgbClr val="0A4A37"/>
                </a:solidFill>
                <a:latin typeface="Noto Sans Thai"/>
              </a:rPr>
              <a:t>ใบเสร็จดี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75104"/>
            <a:ext cx="5394960" cy="38404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900" b="1">
                <a:solidFill>
                  <a:srgbClr val="17231F"/>
                </a:solidFill>
                <a:latin typeface="Noto Sans Thai"/>
              </a:rPr>
              <a:t>Offline AI Receipt Analyzer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15184"/>
            <a:ext cx="5440680" cy="9601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600" b="0">
                <a:solidFill>
                  <a:srgbClr val="60706A"/>
                </a:solidFill>
                <a:latin typeface="Noto Sans Thai"/>
              </a:rPr>
              <a:t>ระบบอ่านใบเสร็จ สรุปค่าใช้จ่าย และแสดง Dashboard
ด้วย AI ที่ทำงานภายใน Raspberry 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913632"/>
            <a:ext cx="1609344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A4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968496"/>
            <a:ext cx="1609344" cy="237744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/>
            <a:r>
              <a:rPr sz="950" b="1">
                <a:solidFill>
                  <a:srgbClr val="0A4A37"/>
                </a:solidFill>
                <a:latin typeface="Noto Sans Thai"/>
              </a:rPr>
              <a:t>Raspberry Pi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23160" y="3913632"/>
            <a:ext cx="1609344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56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23160" y="3968496"/>
            <a:ext cx="1609344" cy="237744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/>
            <a:r>
              <a:rPr sz="950" b="1">
                <a:solidFill>
                  <a:srgbClr val="15664B"/>
                </a:solidFill>
                <a:latin typeface="Noto Sans Thai"/>
              </a:rPr>
              <a:t>OCR ไทย–อังกฤษ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0520" y="3913632"/>
            <a:ext cx="1609344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B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60520" y="3968496"/>
            <a:ext cx="1609344" cy="237744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/>
            <a:r>
              <a:rPr sz="950" b="1">
                <a:solidFill>
                  <a:srgbClr val="94B853"/>
                </a:solidFill>
                <a:latin typeface="Noto Sans Thai"/>
              </a:rPr>
              <a:t>Local LLM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66360"/>
            <a:ext cx="5577840" cy="32004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7231F"/>
                </a:solidFill>
                <a:latin typeface="Noto Sans Thai"/>
              </a:rPr>
              <a:t>ผู้จัดทำ: [ชื่อ–นามสกุล]  |  รหัสนักศึกษา: [กรอก]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577840"/>
            <a:ext cx="365760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0706A"/>
                </a:solidFill>
                <a:latin typeface="Noto Sans Thai"/>
              </a:rPr>
              <a:t>นำเสนอเดือนตุลาคม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10896"/>
            <a:ext cx="8046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850" b="1">
                <a:solidFill>
                  <a:srgbClr val="60706A"/>
                </a:solidFill>
                <a:latin typeface="Noto Sans Thai"/>
              </a:rPr>
              <a:t>01 · PROBLEM &amp;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03504"/>
            <a:ext cx="10424160" cy="5029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2500" b="1">
                <a:solidFill>
                  <a:srgbClr val="0A4A37"/>
                </a:solidFill>
                <a:latin typeface="Noto Sans Thai"/>
              </a:rPr>
              <a:t>ปัญหาและเป้าหมายของโครงงาน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420624"/>
            <a:ext cx="502920" cy="32004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/>
            <a:r>
              <a:rPr sz="1000" b="1">
                <a:solidFill>
                  <a:srgbClr val="60706A"/>
                </a:solidFill>
                <a:latin typeface="Noto Sans Thai"/>
              </a:rPr>
              <a:t>02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170432"/>
            <a:ext cx="10927080" cy="0"/>
          </a:xfrm>
          <a:prstGeom prst="line">
            <a:avLst/>
          </a:prstGeom>
          <a:ln w="12700">
            <a:solidFill>
              <a:srgbClr val="CAD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508760"/>
            <a:ext cx="3401568" cy="1554480"/>
          </a:xfrm>
          <a:prstGeom prst="roundRect">
            <a:avLst/>
          </a:prstGeom>
          <a:solidFill>
            <a:srgbClr val="F7F4EA"/>
          </a:solidFill>
          <a:ln w="12700">
            <a:solidFill>
              <a:srgbClr val="D5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96112" y="1719072"/>
            <a:ext cx="475488" cy="475488"/>
          </a:xfrm>
          <a:prstGeom prst="ellipse">
            <a:avLst/>
          </a:prstGeom>
          <a:solidFill>
            <a:srgbClr val="D5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728216"/>
            <a:ext cx="475488" cy="45720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Tha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682496"/>
            <a:ext cx="2331720" cy="32004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700" b="1">
                <a:solidFill>
                  <a:srgbClr val="17231F"/>
                </a:solidFill>
                <a:latin typeface="Noto Sans Thai"/>
              </a:rPr>
              <a:t>บันทึกด้วยมือ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76272"/>
            <a:ext cx="2926080" cy="64008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250" b="0">
                <a:solidFill>
                  <a:srgbClr val="60706A"/>
                </a:solidFill>
                <a:latin typeface="Noto Sans Thai"/>
              </a:rPr>
              <a:t>ต้องคัดลอกชื่อสินค้าและราคา
ใช้เวลาและพิมพ์ผิดได้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53128" y="1508760"/>
            <a:ext cx="3401568" cy="1554480"/>
          </a:xfrm>
          <a:prstGeom prst="roundRect">
            <a:avLst/>
          </a:prstGeom>
          <a:solidFill>
            <a:srgbClr val="EAF2ED"/>
          </a:solidFill>
          <a:ln w="12700">
            <a:solidFill>
              <a:srgbClr val="A75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63440" y="1719072"/>
            <a:ext cx="475488" cy="475488"/>
          </a:xfrm>
          <a:prstGeom prst="ellipse">
            <a:avLst/>
          </a:prstGeom>
          <a:solidFill>
            <a:srgbClr val="A756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1728216"/>
            <a:ext cx="475488" cy="45720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Tha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0368" y="1682496"/>
            <a:ext cx="2331720" cy="32004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700" b="1">
                <a:solidFill>
                  <a:srgbClr val="17231F"/>
                </a:solidFill>
                <a:latin typeface="Noto Sans Thai"/>
              </a:rPr>
              <a:t>ข้อมูลส่วนตัว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2176272"/>
            <a:ext cx="2926080" cy="64008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250" b="0">
                <a:solidFill>
                  <a:srgbClr val="60706A"/>
                </a:solidFill>
                <a:latin typeface="Noto Sans Thai"/>
              </a:rPr>
              <a:t>ใบเสร็จอาจมีชื่อ ที่อยู่
และประวัติการซื้อ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0456" y="1508760"/>
            <a:ext cx="3401568" cy="1554480"/>
          </a:xfrm>
          <a:prstGeom prst="roundRect">
            <a:avLst/>
          </a:prstGeom>
          <a:solidFill>
            <a:srgbClr val="EAF2ED"/>
          </a:solidFill>
          <a:ln w="12700">
            <a:solidFill>
              <a:srgbClr val="156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30768" y="1719072"/>
            <a:ext cx="475488" cy="475488"/>
          </a:xfrm>
          <a:prstGeom prst="ellipse">
            <a:avLst/>
          </a:prstGeom>
          <a:solidFill>
            <a:srgbClr val="156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0768" y="1728216"/>
            <a:ext cx="475488" cy="45720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Tha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97696" y="1682496"/>
            <a:ext cx="2331720" cy="32004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700" b="1">
                <a:solidFill>
                  <a:srgbClr val="17231F"/>
                </a:solidFill>
                <a:latin typeface="Noto Sans Thai"/>
              </a:rPr>
              <a:t>รูปแบบหลากหลาย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49056" y="2176272"/>
            <a:ext cx="2926080" cy="64008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250" b="0">
                <a:solidFill>
                  <a:srgbClr val="60706A"/>
                </a:solidFill>
                <a:latin typeface="Noto Sans Thai"/>
              </a:rPr>
              <a:t>ตาราง คำย่อ และส่วนลด
อยู่คนละตำแหน่ง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456432"/>
            <a:ext cx="10835640" cy="2267712"/>
          </a:xfrm>
          <a:prstGeom prst="roundRect">
            <a:avLst/>
          </a:prstGeom>
          <a:solidFill>
            <a:srgbClr val="0A4A37"/>
          </a:solidFill>
          <a:ln w="12700">
            <a:solidFill>
              <a:srgbClr val="0A4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3703320"/>
            <a:ext cx="1828800" cy="38404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Noto Sans Thai"/>
              </a:rPr>
              <a:t>เป้าหมาย</a:t>
            </a:r>
          </a:p>
        </p:txBody>
      </p:sp>
      <p:sp>
        <p:nvSpPr>
          <p:cNvPr id="23" name="Oval 22"/>
          <p:cNvSpPr/>
          <p:nvPr/>
        </p:nvSpPr>
        <p:spPr>
          <a:xfrm>
            <a:off x="2971800" y="3657600"/>
            <a:ext cx="384048" cy="384048"/>
          </a:xfrm>
          <a:prstGeom prst="ellipse">
            <a:avLst/>
          </a:prstGeom>
          <a:solidFill>
            <a:srgbClr val="94B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71800" y="3666744"/>
            <a:ext cx="384048" cy="365759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Tha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93008" y="3666744"/>
            <a:ext cx="7269480" cy="36576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450" b="0">
                <a:solidFill>
                  <a:srgbClr val="FFFFFF"/>
                </a:solidFill>
                <a:latin typeface="Noto Sans Thai"/>
              </a:rPr>
              <a:t>อ่านข้อความไทยและอังกฤษจากภาพใบเสร็จ</a:t>
            </a:r>
          </a:p>
        </p:txBody>
      </p:sp>
      <p:sp>
        <p:nvSpPr>
          <p:cNvPr id="26" name="Oval 25"/>
          <p:cNvSpPr/>
          <p:nvPr/>
        </p:nvSpPr>
        <p:spPr>
          <a:xfrm>
            <a:off x="2971800" y="4224528"/>
            <a:ext cx="384048" cy="384048"/>
          </a:xfrm>
          <a:prstGeom prst="ellipse">
            <a:avLst/>
          </a:prstGeom>
          <a:solidFill>
            <a:srgbClr val="94B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71800" y="4233672"/>
            <a:ext cx="384048" cy="365759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Tha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93008" y="4233672"/>
            <a:ext cx="7269480" cy="36576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450" b="0">
                <a:solidFill>
                  <a:srgbClr val="FFFFFF"/>
                </a:solidFill>
                <a:latin typeface="Noto Sans Thai"/>
              </a:rPr>
              <a:t>กรอกข้อมูลอัตโนมัติ แต่ให้ผู้ใช้ตรวจแก้ก่อนบันทึก</a:t>
            </a:r>
          </a:p>
        </p:txBody>
      </p:sp>
      <p:sp>
        <p:nvSpPr>
          <p:cNvPr id="29" name="Oval 28"/>
          <p:cNvSpPr/>
          <p:nvPr/>
        </p:nvSpPr>
        <p:spPr>
          <a:xfrm>
            <a:off x="2971800" y="4791456"/>
            <a:ext cx="384048" cy="384048"/>
          </a:xfrm>
          <a:prstGeom prst="ellipse">
            <a:avLst/>
          </a:prstGeom>
          <a:solidFill>
            <a:srgbClr val="94B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71800" y="4800600"/>
            <a:ext cx="384048" cy="365759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Tha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93008" y="4800600"/>
            <a:ext cx="7269480" cy="36576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450" b="0">
                <a:solidFill>
                  <a:srgbClr val="FFFFFF"/>
                </a:solidFill>
                <a:latin typeface="Noto Sans Thai"/>
              </a:rPr>
              <a:t>เก็บข้อมูลและแสดง Dashboard โดยไม่ส่งภาพไป Cloud AI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519672"/>
            <a:ext cx="4572000" cy="16459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750" b="0">
                <a:solidFill>
                  <a:srgbClr val="60706A"/>
                </a:solidFill>
                <a:latin typeface="Noto Sans Thai"/>
              </a:rPr>
              <a:t>ใบเสร็จดี · Offline AI Receipt Analyzer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10896"/>
            <a:ext cx="8046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850" b="1">
                <a:solidFill>
                  <a:srgbClr val="60706A"/>
                </a:solidFill>
                <a:latin typeface="Noto Sans Thai"/>
              </a:rPr>
              <a:t>02 ·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03504"/>
            <a:ext cx="10424160" cy="5029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2500" b="1">
                <a:solidFill>
                  <a:srgbClr val="0A4A37"/>
                </a:solidFill>
                <a:latin typeface="Noto Sans Thai"/>
              </a:rPr>
              <a:t>ภาพรวมโครงสร้างระบบ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420624"/>
            <a:ext cx="502920" cy="32004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/>
            <a:r>
              <a:rPr sz="1000" b="1">
                <a:solidFill>
                  <a:srgbClr val="60706A"/>
                </a:solidFill>
                <a:latin typeface="Noto Sans Thai"/>
              </a:rPr>
              <a:t>03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170432"/>
            <a:ext cx="10927080" cy="0"/>
          </a:xfrm>
          <a:prstGeom prst="line">
            <a:avLst/>
          </a:prstGeom>
          <a:ln w="12700">
            <a:solidFill>
              <a:srgbClr val="CAD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40080" y="1353312"/>
            <a:ext cx="1092708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9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0987" y="1554480"/>
            <a:ext cx="7525264" cy="397763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246120" y="5577840"/>
            <a:ext cx="5715000" cy="566928"/>
          </a:xfrm>
          <a:prstGeom prst="roundRect">
            <a:avLst/>
          </a:prstGeom>
          <a:solidFill>
            <a:srgbClr val="EAF2ED"/>
          </a:solidFill>
          <a:ln w="12700">
            <a:solidFill>
              <a:srgbClr val="156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5715000"/>
            <a:ext cx="5440680" cy="2194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/>
            <a:r>
              <a:rPr sz="1150" b="1">
                <a:solidFill>
                  <a:srgbClr val="0A4A37"/>
                </a:solidFill>
                <a:latin typeface="Noto Sans Thai"/>
              </a:rPr>
              <a:t>โทรศัพท์เชื่อมผ่าน LAN · OCR, LLM, ฐานข้อมูล และเว็บอยู่บน Raspberry 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519672"/>
            <a:ext cx="4572000" cy="16459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750" b="0">
                <a:solidFill>
                  <a:srgbClr val="60706A"/>
                </a:solidFill>
                <a:latin typeface="Noto Sans Thai"/>
              </a:rPr>
              <a:t>ใบเสร็จดี · Offline AI Receipt Analyzer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10896"/>
            <a:ext cx="8046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850" b="1">
                <a:solidFill>
                  <a:srgbClr val="60706A"/>
                </a:solidFill>
                <a:latin typeface="Noto Sans Thai"/>
              </a:rPr>
              <a:t>03 ·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03504"/>
            <a:ext cx="10424160" cy="5029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2500" b="1">
                <a:solidFill>
                  <a:srgbClr val="0A4A37"/>
                </a:solidFill>
                <a:latin typeface="Noto Sans Thai"/>
              </a:rPr>
              <a:t>การทำงานตั้งแต่รูปภาพถึง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420624"/>
            <a:ext cx="502920" cy="32004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/>
            <a:r>
              <a:rPr sz="1000" b="1">
                <a:solidFill>
                  <a:srgbClr val="60706A"/>
                </a:solidFill>
                <a:latin typeface="Noto Sans Thai"/>
              </a:rPr>
              <a:t>04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170432"/>
            <a:ext cx="10927080" cy="0"/>
          </a:xfrm>
          <a:prstGeom prst="line">
            <a:avLst/>
          </a:prstGeom>
          <a:ln w="12700">
            <a:solidFill>
              <a:srgbClr val="CAD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13232" y="1536192"/>
            <a:ext cx="3337560" cy="1417320"/>
          </a:xfrm>
          <a:prstGeom prst="roundRect">
            <a:avLst/>
          </a:prstGeom>
          <a:solidFill>
            <a:srgbClr val="EAF2ED"/>
          </a:solidFill>
          <a:ln w="12700">
            <a:solidFill>
              <a:srgbClr val="156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96112" y="1737360"/>
            <a:ext cx="475488" cy="475488"/>
          </a:xfrm>
          <a:prstGeom prst="ellipse">
            <a:avLst/>
          </a:prstGeom>
          <a:solidFill>
            <a:srgbClr val="0A4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746504"/>
            <a:ext cx="475488" cy="45720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Tha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9616" y="1719072"/>
            <a:ext cx="2240280" cy="3474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800" b="1">
                <a:solidFill>
                  <a:srgbClr val="0A4A37"/>
                </a:solidFill>
                <a:latin typeface="Noto Sans Thai"/>
              </a:rPr>
              <a:t>อัปโหลด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86000"/>
            <a:ext cx="2880360" cy="420624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/>
            <a:r>
              <a:rPr sz="1220" b="0">
                <a:solidFill>
                  <a:srgbClr val="60706A"/>
                </a:solidFill>
                <a:latin typeface="Noto Sans Thai"/>
              </a:rPr>
              <a:t>JPG / PNG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50791" y="2249424"/>
            <a:ext cx="365761" cy="0"/>
          </a:xfrm>
          <a:prstGeom prst="line">
            <a:avLst/>
          </a:prstGeom>
          <a:ln w="25400">
            <a:solidFill>
              <a:srgbClr val="1566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498848" y="1536192"/>
            <a:ext cx="3337560" cy="1417320"/>
          </a:xfrm>
          <a:prstGeom prst="roundRect">
            <a:avLst/>
          </a:prstGeom>
          <a:solidFill>
            <a:srgbClr val="EAF2ED"/>
          </a:solidFill>
          <a:ln w="12700">
            <a:solidFill>
              <a:srgbClr val="156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81728" y="1737360"/>
            <a:ext cx="475488" cy="475488"/>
          </a:xfrm>
          <a:prstGeom prst="ellipse">
            <a:avLst/>
          </a:prstGeom>
          <a:solidFill>
            <a:srgbClr val="0A4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8" y="1746504"/>
            <a:ext cx="475488" cy="45720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Tha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85232" y="1719072"/>
            <a:ext cx="2240280" cy="3474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800" b="1">
                <a:solidFill>
                  <a:srgbClr val="0A4A37"/>
                </a:solidFill>
                <a:latin typeface="Noto Sans Thai"/>
              </a:rPr>
              <a:t>ปรับภาพ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0016" y="2286000"/>
            <a:ext cx="2880360" cy="420624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/>
            <a:r>
              <a:rPr sz="1220" b="0">
                <a:solidFill>
                  <a:srgbClr val="60706A"/>
                </a:solidFill>
                <a:latin typeface="Noto Sans Thai"/>
              </a:rPr>
              <a:t>หมุน · ขยาย · เพิ่มความคม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836408" y="2249424"/>
            <a:ext cx="365759" cy="0"/>
          </a:xfrm>
          <a:prstGeom prst="line">
            <a:avLst/>
          </a:prstGeom>
          <a:ln w="25400">
            <a:solidFill>
              <a:srgbClr val="1566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284463" y="1536192"/>
            <a:ext cx="3337560" cy="1417320"/>
          </a:xfrm>
          <a:prstGeom prst="roundRect">
            <a:avLst/>
          </a:prstGeom>
          <a:solidFill>
            <a:srgbClr val="EAF2ED"/>
          </a:solidFill>
          <a:ln w="12700">
            <a:solidFill>
              <a:srgbClr val="156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67343" y="1737360"/>
            <a:ext cx="475488" cy="475488"/>
          </a:xfrm>
          <a:prstGeom prst="ellipse">
            <a:avLst/>
          </a:prstGeom>
          <a:solidFill>
            <a:srgbClr val="0A4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67343" y="1746504"/>
            <a:ext cx="475488" cy="45720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Tha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0847" y="1719072"/>
            <a:ext cx="2240280" cy="3474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800" b="1">
                <a:solidFill>
                  <a:srgbClr val="0A4A37"/>
                </a:solidFill>
                <a:latin typeface="Noto Sans Thai"/>
              </a:rPr>
              <a:t>OCR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85632" y="2286000"/>
            <a:ext cx="2880360" cy="420624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/>
            <a:r>
              <a:rPr sz="1220" b="0">
                <a:solidFill>
                  <a:srgbClr val="60706A"/>
                </a:solidFill>
                <a:latin typeface="Noto Sans Thai"/>
              </a:rPr>
              <a:t>อ่านข้อความไทย–อังกฤษ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593591"/>
            <a:ext cx="3337560" cy="1417320"/>
          </a:xfrm>
          <a:prstGeom prst="roundRect">
            <a:avLst/>
          </a:prstGeom>
          <a:solidFill>
            <a:srgbClr val="F7F4EA"/>
          </a:solidFill>
          <a:ln w="12700">
            <a:solidFill>
              <a:srgbClr val="156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96112" y="3794759"/>
            <a:ext cx="475488" cy="475488"/>
          </a:xfrm>
          <a:prstGeom prst="ellipse">
            <a:avLst/>
          </a:prstGeom>
          <a:solidFill>
            <a:srgbClr val="94B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3803903"/>
            <a:ext cx="475488" cy="45720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Tha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99616" y="3776472"/>
            <a:ext cx="2240280" cy="3474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800" b="1">
                <a:solidFill>
                  <a:srgbClr val="0A4A37"/>
                </a:solidFill>
                <a:latin typeface="Noto Sans Thai"/>
              </a:rPr>
              <a:t>Parser + LLM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343400"/>
            <a:ext cx="2880360" cy="420624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/>
            <a:r>
              <a:rPr sz="1220" b="0">
                <a:solidFill>
                  <a:srgbClr val="60706A"/>
                </a:solidFill>
                <a:latin typeface="Noto Sans Thai"/>
              </a:rPr>
              <a:t>แยกร้าน สินค้า จำนวน ราคา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50791" y="4306824"/>
            <a:ext cx="365761" cy="0"/>
          </a:xfrm>
          <a:prstGeom prst="line">
            <a:avLst/>
          </a:prstGeom>
          <a:ln w="25400">
            <a:solidFill>
              <a:srgbClr val="1566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498848" y="3593591"/>
            <a:ext cx="3337560" cy="1417320"/>
          </a:xfrm>
          <a:prstGeom prst="roundRect">
            <a:avLst/>
          </a:prstGeom>
          <a:solidFill>
            <a:srgbClr val="F7F4EA"/>
          </a:solidFill>
          <a:ln w="12700">
            <a:solidFill>
              <a:srgbClr val="156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681728" y="3794759"/>
            <a:ext cx="475488" cy="475488"/>
          </a:xfrm>
          <a:prstGeom prst="ellipse">
            <a:avLst/>
          </a:prstGeom>
          <a:solidFill>
            <a:srgbClr val="0A4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81728" y="3803903"/>
            <a:ext cx="475488" cy="45720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Tha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85232" y="3776472"/>
            <a:ext cx="2240280" cy="3474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800" b="1">
                <a:solidFill>
                  <a:srgbClr val="0A4A37"/>
                </a:solidFill>
                <a:latin typeface="Noto Sans Thai"/>
              </a:rPr>
              <a:t>ตรวจแก้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0016" y="4343400"/>
            <a:ext cx="2880360" cy="420624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/>
            <a:r>
              <a:rPr sz="1220" b="0">
                <a:solidFill>
                  <a:srgbClr val="60706A"/>
                </a:solidFill>
                <a:latin typeface="Noto Sans Thai"/>
              </a:rPr>
              <a:t>ผู้ใช้ยืนยันข้อมูล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836408" y="4306824"/>
            <a:ext cx="365759" cy="0"/>
          </a:xfrm>
          <a:prstGeom prst="line">
            <a:avLst/>
          </a:prstGeom>
          <a:ln w="25400">
            <a:solidFill>
              <a:srgbClr val="1566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8284463" y="3593591"/>
            <a:ext cx="3337560" cy="1417320"/>
          </a:xfrm>
          <a:prstGeom prst="roundRect">
            <a:avLst/>
          </a:prstGeom>
          <a:solidFill>
            <a:srgbClr val="F7F4EA"/>
          </a:solidFill>
          <a:ln w="12700">
            <a:solidFill>
              <a:srgbClr val="156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467343" y="3794759"/>
            <a:ext cx="475488" cy="475488"/>
          </a:xfrm>
          <a:prstGeom prst="ellipse">
            <a:avLst/>
          </a:prstGeom>
          <a:solidFill>
            <a:srgbClr val="0A4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67343" y="3803903"/>
            <a:ext cx="475488" cy="45720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Tha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70847" y="3776472"/>
            <a:ext cx="2240280" cy="3474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800" b="1">
                <a:solidFill>
                  <a:srgbClr val="0A4A37"/>
                </a:solidFill>
                <a:latin typeface="Noto Sans Thai"/>
              </a:rPr>
              <a:t>บันทึก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85632" y="4343400"/>
            <a:ext cx="2880360" cy="420624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/>
            <a:r>
              <a:rPr sz="1220" b="0">
                <a:solidFill>
                  <a:srgbClr val="60706A"/>
                </a:solidFill>
                <a:latin typeface="Noto Sans Thai"/>
              </a:rPr>
              <a:t>SQLite → Dashboard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40280" y="5833872"/>
            <a:ext cx="7726679" cy="3474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/>
            <a:r>
              <a:rPr sz="1500" b="1">
                <a:solidFill>
                  <a:srgbClr val="A75643"/>
                </a:solidFill>
                <a:latin typeface="Noto Sans Thai"/>
              </a:rPr>
              <a:t>AI สร้าง “ร่างข้อมูล” เท่านั้น — ผู้ใช้เป็นผู้ยืนยันผลสุดท้าย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6519672"/>
            <a:ext cx="4572000" cy="16459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750" b="0">
                <a:solidFill>
                  <a:srgbClr val="60706A"/>
                </a:solidFill>
                <a:latin typeface="Noto Sans Thai"/>
              </a:rPr>
              <a:t>ใบเสร็จดี · Offline AI Receipt Analyzer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10896"/>
            <a:ext cx="8046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850" b="1">
                <a:solidFill>
                  <a:srgbClr val="60706A"/>
                </a:solidFill>
                <a:latin typeface="Noto Sans Thai"/>
              </a:rPr>
              <a:t>04 · 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03504"/>
            <a:ext cx="10424160" cy="5029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2500" b="1">
                <a:solidFill>
                  <a:srgbClr val="0A4A37"/>
                </a:solidFill>
                <a:latin typeface="Noto Sans Thai"/>
              </a:rPr>
              <a:t>เครื่องมือที่ใช้และหน้าที่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420624"/>
            <a:ext cx="502920" cy="32004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/>
            <a:r>
              <a:rPr sz="1000" b="1">
                <a:solidFill>
                  <a:srgbClr val="60706A"/>
                </a:solidFill>
                <a:latin typeface="Noto Sans Thai"/>
              </a:rPr>
              <a:t>05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170432"/>
            <a:ext cx="10927080" cy="0"/>
          </a:xfrm>
          <a:prstGeom prst="line">
            <a:avLst/>
          </a:prstGeom>
          <a:ln w="12700">
            <a:solidFill>
              <a:srgbClr val="CAD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417320"/>
            <a:ext cx="5166360" cy="1901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A4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1325880" cy="1901952"/>
          </a:xfrm>
          <a:prstGeom prst="roundRect">
            <a:avLst/>
          </a:prstGeom>
          <a:solidFill>
            <a:srgbClr val="0A4A37"/>
          </a:solidFill>
          <a:ln w="12700">
            <a:solidFill>
              <a:srgbClr val="0A4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2057400"/>
            <a:ext cx="1170432" cy="45720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/>
            <a:r>
              <a:rPr sz="1450" b="1">
                <a:solidFill>
                  <a:srgbClr val="FFFFFF"/>
                </a:solidFill>
                <a:latin typeface="Noto Sans Thai"/>
              </a:rPr>
              <a:t>อุปกรณ์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21991" y="1691640"/>
            <a:ext cx="1874519" cy="43891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180" b="1">
                <a:solidFill>
                  <a:srgbClr val="17231F"/>
                </a:solidFill>
                <a:latin typeface="Noto Sans"/>
              </a:rPr>
              <a:t>Raspberry Pi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87368" y="1691640"/>
            <a:ext cx="1417320" cy="47548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070" b="0">
                <a:solidFill>
                  <a:srgbClr val="60706A"/>
                </a:solidFill>
                <a:latin typeface="Noto Sans Thai"/>
              </a:rPr>
              <a:t>ประมวลผลและเก็บข้อมูล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21991" y="2496312"/>
            <a:ext cx="1874519" cy="43891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180" b="1">
                <a:solidFill>
                  <a:srgbClr val="17231F"/>
                </a:solidFill>
                <a:latin typeface="Noto Sans"/>
              </a:rPr>
              <a:t>Wi-Fi / 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87368" y="2496312"/>
            <a:ext cx="1417320" cy="47548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070" b="0">
                <a:solidFill>
                  <a:srgbClr val="60706A"/>
                </a:solidFill>
                <a:latin typeface="Noto Sans Thai"/>
              </a:rPr>
              <a:t>เชื่อมโทรศัพท์กับ 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417320"/>
            <a:ext cx="5166360" cy="1901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56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1325880" cy="1901952"/>
          </a:xfrm>
          <a:prstGeom prst="roundRect">
            <a:avLst/>
          </a:prstGeom>
          <a:solidFill>
            <a:srgbClr val="15664B"/>
          </a:solidFill>
          <a:ln w="12700">
            <a:solidFill>
              <a:srgbClr val="156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91072" y="2057400"/>
            <a:ext cx="1170432" cy="45720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/>
            <a:r>
              <a:rPr sz="1450" b="1">
                <a:solidFill>
                  <a:srgbClr val="FFFFFF"/>
                </a:solidFill>
                <a:latin typeface="Noto Sans Thai"/>
              </a:rPr>
              <a:t>Backend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54112" y="1691640"/>
            <a:ext cx="1874519" cy="43891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180" b="1">
                <a:solidFill>
                  <a:srgbClr val="17231F"/>
                </a:solidFill>
                <a:latin typeface="Noto Sans"/>
              </a:rPr>
              <a:t>Flask + Waitress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9488" y="1691640"/>
            <a:ext cx="1417320" cy="47548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070" b="0">
                <a:solidFill>
                  <a:srgbClr val="60706A"/>
                </a:solidFill>
                <a:latin typeface="Noto Sans Thai"/>
              </a:rPr>
              <a:t>เว็บและควบคุม workflow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54112" y="2496312"/>
            <a:ext cx="1874519" cy="43891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180" b="1">
                <a:solidFill>
                  <a:srgbClr val="17231F"/>
                </a:solidFill>
                <a:latin typeface="Noto Sans"/>
              </a:rPr>
              <a:t>SQLite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19488" y="2496312"/>
            <a:ext cx="1417320" cy="47548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070" b="0">
                <a:solidFill>
                  <a:srgbClr val="60706A"/>
                </a:solidFill>
                <a:latin typeface="Noto Sans Thai"/>
              </a:rPr>
              <a:t>ฐานข้อมูลใบเสร็จ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685032"/>
            <a:ext cx="5166360" cy="1901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B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85800" y="3685032"/>
            <a:ext cx="1325880" cy="1901952"/>
          </a:xfrm>
          <a:prstGeom prst="roundRect">
            <a:avLst/>
          </a:prstGeom>
          <a:solidFill>
            <a:srgbClr val="94B853"/>
          </a:solidFill>
          <a:ln w="12700">
            <a:solidFill>
              <a:srgbClr val="94B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" y="4325112"/>
            <a:ext cx="1170432" cy="45720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/>
            <a:r>
              <a:rPr sz="1450" b="1">
                <a:solidFill>
                  <a:srgbClr val="FFFFFF"/>
                </a:solidFill>
                <a:latin typeface="Noto Sans Thai"/>
              </a:rPr>
              <a:t>OCR &amp; 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21991" y="3959352"/>
            <a:ext cx="1874519" cy="43891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180" b="1">
                <a:solidFill>
                  <a:srgbClr val="17231F"/>
                </a:solidFill>
                <a:latin typeface="Noto Sans"/>
              </a:rPr>
              <a:t>Pillow + Tesseract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87368" y="3959352"/>
            <a:ext cx="1417320" cy="47548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070" b="0">
                <a:solidFill>
                  <a:srgbClr val="60706A"/>
                </a:solidFill>
                <a:latin typeface="Noto Sans Thai"/>
              </a:rPr>
              <a:t>ปรับภาพและอ่านข้อความ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21991" y="4764024"/>
            <a:ext cx="1874519" cy="43891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180" b="1">
                <a:solidFill>
                  <a:srgbClr val="17231F"/>
                </a:solidFill>
                <a:latin typeface="Noto Sans"/>
              </a:rPr>
              <a:t>Qwen + llama.cpp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87368" y="4764024"/>
            <a:ext cx="1417320" cy="47548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070" b="0">
                <a:solidFill>
                  <a:srgbClr val="60706A"/>
                </a:solidFill>
                <a:latin typeface="Noto Sans Thai"/>
              </a:rPr>
              <a:t>วิเคราะห์ข้อความในเครื่อง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685032"/>
            <a:ext cx="5166360" cy="1901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217920" y="3685032"/>
            <a:ext cx="1325880" cy="1901952"/>
          </a:xfrm>
          <a:prstGeom prst="roundRect">
            <a:avLst/>
          </a:prstGeom>
          <a:solidFill>
            <a:srgbClr val="D5A84B"/>
          </a:solidFill>
          <a:ln w="12700">
            <a:solidFill>
              <a:srgbClr val="D5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91072" y="4325112"/>
            <a:ext cx="1170432" cy="45720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/>
            <a:r>
              <a:rPr sz="1450" b="1">
                <a:solidFill>
                  <a:srgbClr val="FFFFFF"/>
                </a:solidFill>
                <a:latin typeface="Noto Sans Thai"/>
              </a:rPr>
              <a:t>หน้าจอ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54112" y="3959352"/>
            <a:ext cx="1874519" cy="43891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180" b="1">
                <a:solidFill>
                  <a:srgbClr val="17231F"/>
                </a:solidFill>
                <a:latin typeface="Noto Sans"/>
              </a:rPr>
              <a:t>HTML / Bootstrap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9488" y="3959352"/>
            <a:ext cx="1417320" cy="47548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070" b="0">
                <a:solidFill>
                  <a:srgbClr val="60706A"/>
                </a:solidFill>
                <a:latin typeface="Noto Sans Thai"/>
              </a:rPr>
              <a:t>ส่วนติดต่อผู้ใช้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54112" y="4764024"/>
            <a:ext cx="1874519" cy="43891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180" b="1">
                <a:solidFill>
                  <a:srgbClr val="17231F"/>
                </a:solidFill>
                <a:latin typeface="Noto Sans"/>
              </a:rPr>
              <a:t>JavaScript / Chart.js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19488" y="4764024"/>
            <a:ext cx="1417320" cy="47548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070" b="0">
                <a:solidFill>
                  <a:srgbClr val="60706A"/>
                </a:solidFill>
                <a:latin typeface="Noto Sans Thai"/>
              </a:rPr>
              <a:t>คำนวณและแสดงกราฟ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519672"/>
            <a:ext cx="4572000" cy="16459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750" b="0">
                <a:solidFill>
                  <a:srgbClr val="60706A"/>
                </a:solidFill>
                <a:latin typeface="Noto Sans Thai"/>
              </a:rPr>
              <a:t>ใบเสร็จดี · Offline AI Receipt Analyzer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10896"/>
            <a:ext cx="8046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850" b="1">
                <a:solidFill>
                  <a:srgbClr val="60706A"/>
                </a:solidFill>
                <a:latin typeface="Noto Sans Thai"/>
              </a:rPr>
              <a:t>05 · LOCAL LLM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03504"/>
            <a:ext cx="10424160" cy="5029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2500" b="1">
                <a:solidFill>
                  <a:srgbClr val="0A4A37"/>
                </a:solidFill>
                <a:latin typeface="Noto Sans Thai"/>
              </a:rPr>
              <a:t>LLM เกี่ยวข้องกับระบบอย่างไร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420624"/>
            <a:ext cx="502920" cy="32004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/>
            <a:r>
              <a:rPr sz="1000" b="1">
                <a:solidFill>
                  <a:srgbClr val="60706A"/>
                </a:solidFill>
                <a:latin typeface="Noto Sans Thai"/>
              </a:rPr>
              <a:t>06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170432"/>
            <a:ext cx="10927080" cy="0"/>
          </a:xfrm>
          <a:prstGeom prst="line">
            <a:avLst/>
          </a:prstGeom>
          <a:ln w="12700">
            <a:solidFill>
              <a:srgbClr val="CAD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58368" y="1572768"/>
            <a:ext cx="2395728" cy="1691640"/>
          </a:xfrm>
          <a:prstGeom prst="roundRect">
            <a:avLst/>
          </a:prstGeom>
          <a:solidFill>
            <a:srgbClr val="EAF2ED"/>
          </a:solidFill>
          <a:ln w="12700">
            <a:solidFill>
              <a:srgbClr val="156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28800"/>
            <a:ext cx="2176272" cy="3474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15664B"/>
                </a:solidFill>
                <a:latin typeface="Noto Sans Thai"/>
              </a:rPr>
              <a:t>Tesseract OCR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304288"/>
            <a:ext cx="2066543" cy="62179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/>
            <a:r>
              <a:rPr sz="1200" b="0">
                <a:solidFill>
                  <a:srgbClr val="60706A"/>
                </a:solidFill>
                <a:latin typeface="Noto Sans Thai"/>
              </a:rPr>
              <a:t>อ่านตัวอักษร
จากภาพ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81528" y="2148840"/>
            <a:ext cx="384048" cy="36576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/>
            <a:r>
              <a:rPr sz="2300" b="1">
                <a:solidFill>
                  <a:srgbClr val="15664B"/>
                </a:solidFill>
                <a:latin typeface="Noto Sans Tha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1296" y="1572768"/>
            <a:ext cx="2395728" cy="1691640"/>
          </a:xfrm>
          <a:prstGeom prst="roundRect">
            <a:avLst/>
          </a:prstGeom>
          <a:solidFill>
            <a:srgbClr val="F7F4EA"/>
          </a:solidFill>
          <a:ln w="12700">
            <a:solidFill>
              <a:srgbClr val="D5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21024" y="1828800"/>
            <a:ext cx="2176272" cy="3474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D5A84B"/>
                </a:solidFill>
                <a:latin typeface="Noto Sans Thai"/>
              </a:rPr>
              <a:t>Python Parser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5887" y="2304288"/>
            <a:ext cx="2066543" cy="62179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/>
            <a:r>
              <a:rPr sz="1200" b="0">
                <a:solidFill>
                  <a:srgbClr val="60706A"/>
                </a:solidFill>
                <a:latin typeface="Noto Sans Thai"/>
              </a:rPr>
              <a:t>จับวันที่ ราคา
และรูปแบบตาราง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34456" y="2148840"/>
            <a:ext cx="384048" cy="36576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/>
            <a:r>
              <a:rPr sz="2300" b="1">
                <a:solidFill>
                  <a:srgbClr val="15664B"/>
                </a:solidFill>
                <a:latin typeface="Noto Sans Tha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224" y="1572768"/>
            <a:ext cx="2395728" cy="1691640"/>
          </a:xfrm>
          <a:prstGeom prst="roundRect">
            <a:avLst/>
          </a:prstGeom>
          <a:solidFill>
            <a:srgbClr val="EAF2ED"/>
          </a:solidFill>
          <a:ln w="12700">
            <a:solidFill>
              <a:srgbClr val="94B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828800"/>
            <a:ext cx="2176272" cy="3474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94B853"/>
                </a:solidFill>
                <a:latin typeface="Noto Sans Thai"/>
              </a:rPr>
              <a:t>Qwen2.5-0.5B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304288"/>
            <a:ext cx="2066543" cy="62179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/>
            <a:r>
              <a:rPr sz="1200" b="0">
                <a:solidFill>
                  <a:srgbClr val="60706A"/>
                </a:solidFill>
                <a:latin typeface="Noto Sans Thai"/>
              </a:rPr>
              <a:t>เข้าใจว่าข้อความ
คือข้อมูลประเภทใด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87384" y="2148840"/>
            <a:ext cx="384048" cy="36576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/>
            <a:r>
              <a:rPr sz="2300" b="1">
                <a:solidFill>
                  <a:srgbClr val="15664B"/>
                </a:solidFill>
                <a:latin typeface="Noto Sans Tha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17152" y="1572768"/>
            <a:ext cx="2395728" cy="1691640"/>
          </a:xfrm>
          <a:prstGeom prst="roundRect">
            <a:avLst/>
          </a:prstGeom>
          <a:solidFill>
            <a:srgbClr val="F7F4EA"/>
          </a:solidFill>
          <a:ln w="12700">
            <a:solidFill>
              <a:srgbClr val="0A4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1828800"/>
            <a:ext cx="2176272" cy="3474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A4A37"/>
                </a:solidFill>
                <a:latin typeface="Noto Sans Thai"/>
              </a:rPr>
              <a:t>JSON → ฟอร์ม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81744" y="2304288"/>
            <a:ext cx="2066543" cy="62179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/>
            <a:r>
              <a:rPr sz="1200" b="0">
                <a:solidFill>
                  <a:srgbClr val="60706A"/>
                </a:solidFill>
                <a:latin typeface="Noto Sans Thai"/>
              </a:rPr>
              <a:t>กรอกข้อมูลให้
ผู้ใช้ตรวจแก้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703320"/>
            <a:ext cx="10972800" cy="1737360"/>
          </a:xfrm>
          <a:prstGeom prst="roundRect">
            <a:avLst/>
          </a:prstGeom>
          <a:solidFill>
            <a:srgbClr val="0A4A37"/>
          </a:solidFill>
          <a:ln w="12700">
            <a:solidFill>
              <a:srgbClr val="0A4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" y="3968496"/>
            <a:ext cx="2011680" cy="36576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Noto Sans Thai"/>
              </a:rPr>
              <a:t>ประเด็นสำคัญ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71800" y="3886200"/>
            <a:ext cx="8001000" cy="1234440"/>
          </a:xfrm>
          <a:prstGeom prst="rect">
            <a:avLst/>
          </a:prstGeom>
          <a:noFill/>
        </p:spPr>
        <p:txBody>
          <a:bodyPr wrap="square" lIns="36576" rIns="18288" tIns="18288">
            <a:spAutoFit/>
          </a:bodyPr>
          <a:lstStyle/>
          <a:p>
            <a:pPr>
              <a:spcAft>
                <a:spcPts val="800"/>
              </a:spcAft>
            </a:pPr>
            <a:r>
              <a:rPr sz="1350" b="0">
                <a:solidFill>
                  <a:srgbClr val="94B853"/>
                </a:solidFill>
                <a:latin typeface="Noto Sans Thai"/>
              </a:rPr>
              <a:t>●  LLM รับ “ข้อความจาก OCR” ไม่ได้รับรูปภาพโดยตรง</a:t>
            </a:r>
          </a:p>
          <a:p>
            <a:pPr>
              <a:spcAft>
                <a:spcPts val="800"/>
              </a:spcAft>
            </a:pPr>
            <a:r>
              <a:rPr sz="1350" b="0">
                <a:solidFill>
                  <a:srgbClr val="94B853"/>
                </a:solidFill>
                <a:latin typeface="Noto Sans Thai"/>
              </a:rPr>
              <a:t>●  รันผ่าน llama.cpp ภายใน Raspberry Pi</a:t>
            </a:r>
          </a:p>
          <a:p>
            <a:pPr>
              <a:spcAft>
                <a:spcPts val="800"/>
              </a:spcAft>
            </a:pPr>
            <a:r>
              <a:rPr sz="1350" b="0">
                <a:solidFill>
                  <a:srgbClr val="94B853"/>
                </a:solidFill>
                <a:latin typeface="Noto Sans Thai"/>
              </a:rPr>
              <a:t>●  ใช้โมเดลแบบ quantized เพื่อให้เหมาะกับ RAM 4 GB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519672"/>
            <a:ext cx="4572000" cy="16459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750" b="0">
                <a:solidFill>
                  <a:srgbClr val="60706A"/>
                </a:solidFill>
                <a:latin typeface="Noto Sans Thai"/>
              </a:rPr>
              <a:t>ใบเสร็จดี · Offline AI Receipt Analyzer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10896"/>
            <a:ext cx="8046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850" b="1">
                <a:solidFill>
                  <a:srgbClr val="60706A"/>
                </a:solidFill>
                <a:latin typeface="Noto Sans Thai"/>
              </a:rPr>
              <a:t>06 · USER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03504"/>
            <a:ext cx="10424160" cy="5029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2500" b="1">
                <a:solidFill>
                  <a:srgbClr val="0A4A37"/>
                </a:solidFill>
                <a:latin typeface="Noto Sans Thai"/>
              </a:rPr>
              <a:t>หน้าจอหลักของระบบ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420624"/>
            <a:ext cx="502920" cy="32004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/>
            <a:r>
              <a:rPr sz="1000" b="1">
                <a:solidFill>
                  <a:srgbClr val="60706A"/>
                </a:solidFill>
                <a:latin typeface="Noto Sans Thai"/>
              </a:rPr>
              <a:t>07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170432"/>
            <a:ext cx="10927080" cy="0"/>
          </a:xfrm>
          <a:prstGeom prst="line">
            <a:avLst/>
          </a:prstGeom>
          <a:ln w="12700">
            <a:solidFill>
              <a:srgbClr val="CAD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21792" y="1417320"/>
            <a:ext cx="3493008" cy="44622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9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18488"/>
            <a:ext cx="3127248" cy="32004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600" b="1">
                <a:solidFill>
                  <a:srgbClr val="0A4A37"/>
                </a:solidFill>
                <a:latin typeface="Noto Sans Thai"/>
              </a:rPr>
              <a:t>1 · อัปโหลด</a:t>
            </a:r>
          </a:p>
        </p:txBody>
      </p:sp>
      <p:pic>
        <p:nvPicPr>
          <p:cNvPr id="8" name="Picture 7" descr="01-up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2470277"/>
            <a:ext cx="3163823" cy="232892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5358384"/>
            <a:ext cx="3090672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/>
            <a:r>
              <a:rPr sz="1080" b="0">
                <a:solidFill>
                  <a:srgbClr val="60706A"/>
                </a:solidFill>
                <a:latin typeface="Noto Sans Thai"/>
              </a:rPr>
              <a:t>เลือกภาพใบเสร็จ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3983" y="1417320"/>
            <a:ext cx="3493008" cy="44622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9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6864" y="1618488"/>
            <a:ext cx="3127248" cy="32004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600" b="1">
                <a:solidFill>
                  <a:srgbClr val="0A4A37"/>
                </a:solidFill>
                <a:latin typeface="Noto Sans Thai"/>
              </a:rPr>
              <a:t>2 · ตรวจแก้</a:t>
            </a:r>
          </a:p>
        </p:txBody>
      </p:sp>
      <p:pic>
        <p:nvPicPr>
          <p:cNvPr id="12" name="Picture 11" descr="02-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8575" y="2014378"/>
            <a:ext cx="3163823" cy="324072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45151" y="5358384"/>
            <a:ext cx="3090672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/>
            <a:r>
              <a:rPr sz="1080" b="0">
                <a:solidFill>
                  <a:srgbClr val="60706A"/>
                </a:solidFill>
                <a:latin typeface="Noto Sans Thai"/>
              </a:rPr>
              <a:t>แก้ข้อมูลก่อนบันทึก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66175" y="1417320"/>
            <a:ext cx="3493008" cy="44622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9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49055" y="1618488"/>
            <a:ext cx="3127248" cy="32004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600" b="1">
                <a:solidFill>
                  <a:srgbClr val="0A4A37"/>
                </a:solidFill>
                <a:latin typeface="Noto Sans Thai"/>
              </a:rPr>
              <a:t>3 · Dashboard</a:t>
            </a:r>
          </a:p>
        </p:txBody>
      </p:sp>
      <p:pic>
        <p:nvPicPr>
          <p:cNvPr id="16" name="Picture 15" descr="03-dash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0767" y="2470277"/>
            <a:ext cx="3163823" cy="232892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467344" y="5358384"/>
            <a:ext cx="3090672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/>
            <a:r>
              <a:rPr sz="1080" b="0">
                <a:solidFill>
                  <a:srgbClr val="60706A"/>
                </a:solidFill>
                <a:latin typeface="Noto Sans Thai"/>
              </a:rPr>
              <a:t>ดูยอดและประวัติ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519672"/>
            <a:ext cx="4572000" cy="16459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750" b="0">
                <a:solidFill>
                  <a:srgbClr val="60706A"/>
                </a:solidFill>
                <a:latin typeface="Noto Sans Thai"/>
              </a:rPr>
              <a:t>ใบเสร็จดี · Offline AI Receipt Analyzer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10896"/>
            <a:ext cx="8046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850" b="1">
                <a:solidFill>
                  <a:srgbClr val="60706A"/>
                </a:solidFill>
                <a:latin typeface="Noto Sans Thai"/>
              </a:rPr>
              <a:t>07 ·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03504"/>
            <a:ext cx="10424160" cy="5029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2500" b="1">
                <a:solidFill>
                  <a:srgbClr val="0A4A37"/>
                </a:solidFill>
                <a:latin typeface="Noto Sans Thai"/>
              </a:rPr>
              <a:t>ผลที่ได้และข้อจำกัด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420624"/>
            <a:ext cx="502920" cy="32004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/>
            <a:r>
              <a:rPr sz="1000" b="1">
                <a:solidFill>
                  <a:srgbClr val="60706A"/>
                </a:solidFill>
                <a:latin typeface="Noto Sans Thai"/>
              </a:rPr>
              <a:t>08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170432"/>
            <a:ext cx="10927080" cy="0"/>
          </a:xfrm>
          <a:prstGeom prst="line">
            <a:avLst/>
          </a:prstGeom>
          <a:ln w="12700">
            <a:solidFill>
              <a:srgbClr val="CAD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444752"/>
            <a:ext cx="5193792" cy="4526280"/>
          </a:xfrm>
          <a:prstGeom prst="roundRect">
            <a:avLst/>
          </a:prstGeom>
          <a:solidFill>
            <a:srgbClr val="EAF2ED"/>
          </a:solidFill>
          <a:ln w="12700">
            <a:solidFill>
              <a:srgbClr val="156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37360"/>
            <a:ext cx="2743200" cy="38404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2000" b="1">
                <a:solidFill>
                  <a:srgbClr val="0A4A37"/>
                </a:solidFill>
                <a:latin typeface="Noto Sans Thai"/>
              </a:rPr>
              <a:t>ผลที่ตรวจแล้ว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2340864"/>
            <a:ext cx="1353312" cy="43891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550" b="1">
                <a:solidFill>
                  <a:srgbClr val="15664B"/>
                </a:solidFill>
                <a:latin typeface="Noto Sans"/>
              </a:rPr>
              <a:t>50/50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2359152"/>
            <a:ext cx="3035808" cy="40233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250" b="0">
                <a:solidFill>
                  <a:srgbClr val="17231F"/>
                </a:solidFill>
                <a:latin typeface="Noto Sans Thai"/>
              </a:rPr>
              <a:t>Automated tests ผ่าน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3090672"/>
            <a:ext cx="1353312" cy="43891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550" b="1">
                <a:solidFill>
                  <a:srgbClr val="15664B"/>
                </a:solidFill>
                <a:latin typeface="Noto Sans"/>
              </a:rPr>
              <a:t>Pi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3108960"/>
            <a:ext cx="3035808" cy="40233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250" b="0">
                <a:solidFill>
                  <a:srgbClr val="17231F"/>
                </a:solidFill>
                <a:latin typeface="Noto Sans Thai"/>
              </a:rPr>
              <a:t>OCR, Local LLM และเว็บเริ่มทำงานได้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3840480"/>
            <a:ext cx="1353312" cy="43891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550" b="1">
                <a:solidFill>
                  <a:srgbClr val="15664B"/>
                </a:solidFill>
                <a:latin typeface="Noto Sans"/>
              </a:rPr>
              <a:t>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3160" y="3858768"/>
            <a:ext cx="3035808" cy="40233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250" b="0">
                <a:solidFill>
                  <a:srgbClr val="17231F"/>
                </a:solidFill>
                <a:latin typeface="Noto Sans Thai"/>
              </a:rPr>
              <a:t>เปิดเว็บจากอุปกรณ์ในเครือข่ายเดียวกัน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4590288"/>
            <a:ext cx="1353312" cy="43891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550" b="1">
                <a:solidFill>
                  <a:srgbClr val="15664B"/>
                </a:solidFill>
                <a:latin typeface="Noto Sans"/>
              </a:rPr>
              <a:t>Offline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3160" y="4608575"/>
            <a:ext cx="3035808" cy="40233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250" b="0">
                <a:solidFill>
                  <a:srgbClr val="17231F"/>
                </a:solidFill>
                <a:latin typeface="Noto Sans Thai"/>
              </a:rPr>
              <a:t>ไม่เรียก Cloud AI ระหว่างใช้งาน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44768" y="1444752"/>
            <a:ext cx="5376672" cy="4526280"/>
          </a:xfrm>
          <a:prstGeom prst="roundRect">
            <a:avLst/>
          </a:prstGeom>
          <a:solidFill>
            <a:srgbClr val="F7F4EA"/>
          </a:solidFill>
          <a:ln w="12700">
            <a:solidFill>
              <a:srgbClr val="D5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737360"/>
            <a:ext cx="2286000" cy="38404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2000" b="1">
                <a:solidFill>
                  <a:srgbClr val="A75643"/>
                </a:solidFill>
                <a:latin typeface="Noto Sans Thai"/>
              </a:rPr>
              <a:t>ข้อจำกัด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331720"/>
            <a:ext cx="4572000" cy="2697480"/>
          </a:xfrm>
          <a:prstGeom prst="rect">
            <a:avLst/>
          </a:prstGeom>
          <a:noFill/>
        </p:spPr>
        <p:txBody>
          <a:bodyPr wrap="square" lIns="36576" rIns="18288" tIns="18288">
            <a:spAutoFit/>
          </a:bodyPr>
          <a:lstStyle/>
          <a:p>
            <a:pPr>
              <a:spcAft>
                <a:spcPts val="800"/>
              </a:spcAft>
            </a:pPr>
            <a:r>
              <a:rPr sz="1320" b="0">
                <a:solidFill>
                  <a:srgbClr val="A75643"/>
                </a:solidFill>
                <a:latin typeface="Noto Sans Thai"/>
              </a:rPr>
              <a:t>●  ภาพเบลอหรือแสงสะท้อนทำให้ OCR อ่านผิด</a:t>
            </a:r>
          </a:p>
          <a:p>
            <a:pPr>
              <a:spcAft>
                <a:spcPts val="800"/>
              </a:spcAft>
            </a:pPr>
            <a:r>
              <a:rPr sz="1320" b="0">
                <a:solidFill>
                  <a:srgbClr val="A75643"/>
                </a:solidFill>
                <a:latin typeface="Noto Sans Thai"/>
              </a:rPr>
              <a:t>●  ใบเสร็จแต่ละร้านมีรูปแบบและโปรโมชั่นต่างกัน</a:t>
            </a:r>
          </a:p>
          <a:p>
            <a:pPr>
              <a:spcAft>
                <a:spcPts val="800"/>
              </a:spcAft>
            </a:pPr>
            <a:r>
              <a:rPr sz="1320" b="0">
                <a:solidFill>
                  <a:srgbClr val="A75643"/>
                </a:solidFill>
                <a:latin typeface="Noto Sans Thai"/>
              </a:rPr>
              <a:t>●  โมเดลขนาดเล็กช้ากว่า Cloud และอาจแยกข้อมูลผิด</a:t>
            </a:r>
          </a:p>
          <a:p>
            <a:pPr>
              <a:spcAft>
                <a:spcPts val="800"/>
              </a:spcAft>
            </a:pPr>
            <a:r>
              <a:rPr sz="1320" b="0">
                <a:solidFill>
                  <a:srgbClr val="A75643"/>
                </a:solidFill>
                <a:latin typeface="Noto Sans Thai"/>
              </a:rPr>
              <a:t>●  ผู้ใช้ต้องตรวจและแก้ข้อมูลก่อนบันทึก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5257800"/>
            <a:ext cx="4572000" cy="38404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150" b="1">
                <a:solidFill>
                  <a:srgbClr val="60706A"/>
                </a:solidFill>
                <a:latin typeface="Noto Sans Thai"/>
              </a:rPr>
              <a:t>ระบบเป็นต้นแบบสำหรับใบเสร็จพิมพ์ชัดเจน 2–3 รูปแบบ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519672"/>
            <a:ext cx="4572000" cy="16459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750" b="0">
                <a:solidFill>
                  <a:srgbClr val="60706A"/>
                </a:solidFill>
                <a:latin typeface="Noto Sans Thai"/>
              </a:rPr>
              <a:t>ใบเสร็จดี · Offline AI Receipt Analyzer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4A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58368"/>
            <a:ext cx="1828800" cy="4572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200" b="1">
                <a:solidFill>
                  <a:srgbClr val="94B853"/>
                </a:solidFill>
                <a:latin typeface="Noto Sans Thai"/>
              </a:rPr>
              <a:t>สรุป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6629400" cy="150876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Noto Sans Thai"/>
              </a:rPr>
              <a:t>OCR อ่าน · LLM เข้าใจ
ผู้ใช้ตรวจ · Dashboard สรุป</a:t>
            </a:r>
          </a:p>
        </p:txBody>
      </p:sp>
      <p:sp>
        <p:nvSpPr>
          <p:cNvPr id="4" name="Oval 3"/>
          <p:cNvSpPr/>
          <p:nvPr/>
        </p:nvSpPr>
        <p:spPr>
          <a:xfrm>
            <a:off x="786384" y="3200400"/>
            <a:ext cx="384048" cy="384048"/>
          </a:xfrm>
          <a:prstGeom prst="ellipse">
            <a:avLst/>
          </a:prstGeom>
          <a:solidFill>
            <a:srgbClr val="94B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6384" y="3209544"/>
            <a:ext cx="384048" cy="365759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Thai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3200400"/>
            <a:ext cx="5577840" cy="36576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Noto Sans Thai"/>
              </a:rPr>
              <a:t>ประมวลผลอยู่ภายใน Raspberry Pi</a:t>
            </a:r>
          </a:p>
        </p:txBody>
      </p:sp>
      <p:sp>
        <p:nvSpPr>
          <p:cNvPr id="7" name="Oval 6"/>
          <p:cNvSpPr/>
          <p:nvPr/>
        </p:nvSpPr>
        <p:spPr>
          <a:xfrm>
            <a:off x="786384" y="3767328"/>
            <a:ext cx="384048" cy="384048"/>
          </a:xfrm>
          <a:prstGeom prst="ellipse">
            <a:avLst/>
          </a:prstGeom>
          <a:solidFill>
            <a:srgbClr val="94B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3776472"/>
            <a:ext cx="384048" cy="365759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Tha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767328"/>
            <a:ext cx="5577840" cy="36576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Noto Sans Thai"/>
              </a:rPr>
              <a:t>ลดการส่งข้อมูลใบเสร็จไปบริการภายนอก</a:t>
            </a:r>
          </a:p>
        </p:txBody>
      </p:sp>
      <p:sp>
        <p:nvSpPr>
          <p:cNvPr id="10" name="Oval 9"/>
          <p:cNvSpPr/>
          <p:nvPr/>
        </p:nvSpPr>
        <p:spPr>
          <a:xfrm>
            <a:off x="786384" y="4334256"/>
            <a:ext cx="384048" cy="384048"/>
          </a:xfrm>
          <a:prstGeom prst="ellipse">
            <a:avLst/>
          </a:prstGeom>
          <a:solidFill>
            <a:srgbClr val="94B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4343400"/>
            <a:ext cx="384048" cy="365759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Tha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4334256"/>
            <a:ext cx="5577840" cy="36576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Noto Sans Thai"/>
              </a:rPr>
              <a:t>แก้ไขผล AI ได้ก่อนบันทึกทุกครั้ง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685800"/>
            <a:ext cx="3703320" cy="5440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65008" y="1024128"/>
            <a:ext cx="3017520" cy="41148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2000" b="1">
                <a:solidFill>
                  <a:srgbClr val="0A4A37"/>
                </a:solidFill>
                <a:latin typeface="Noto Sans Thai"/>
              </a:rPr>
              <a:t>ลำดับสาธิต</a:t>
            </a:r>
          </a:p>
        </p:txBody>
      </p:sp>
      <p:sp>
        <p:nvSpPr>
          <p:cNvPr id="15" name="Oval 14"/>
          <p:cNvSpPr/>
          <p:nvPr/>
        </p:nvSpPr>
        <p:spPr>
          <a:xfrm>
            <a:off x="8092440" y="1737360"/>
            <a:ext cx="402336" cy="402336"/>
          </a:xfrm>
          <a:prstGeom prst="ellipse">
            <a:avLst/>
          </a:prstGeom>
          <a:solidFill>
            <a:srgbClr val="156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1746504"/>
            <a:ext cx="402336" cy="38404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Tha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50224" y="1764792"/>
            <a:ext cx="2240280" cy="31089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350" b="1">
                <a:solidFill>
                  <a:srgbClr val="17231F"/>
                </a:solidFill>
                <a:latin typeface="Noto Sans Thai"/>
              </a:rPr>
              <a:t>อัปโหลดภาพ</a:t>
            </a:r>
          </a:p>
        </p:txBody>
      </p:sp>
      <p:sp>
        <p:nvSpPr>
          <p:cNvPr id="18" name="Oval 17"/>
          <p:cNvSpPr/>
          <p:nvPr/>
        </p:nvSpPr>
        <p:spPr>
          <a:xfrm>
            <a:off x="8092440" y="2450591"/>
            <a:ext cx="402336" cy="402336"/>
          </a:xfrm>
          <a:prstGeom prst="ellipse">
            <a:avLst/>
          </a:prstGeom>
          <a:solidFill>
            <a:srgbClr val="156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92440" y="2459735"/>
            <a:ext cx="402336" cy="38404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Tha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50224" y="2478024"/>
            <a:ext cx="2240280" cy="31089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350" b="1">
                <a:solidFill>
                  <a:srgbClr val="17231F"/>
                </a:solidFill>
                <a:latin typeface="Noto Sans Thai"/>
              </a:rPr>
              <a:t>รอ OCR + AI</a:t>
            </a:r>
          </a:p>
        </p:txBody>
      </p:sp>
      <p:sp>
        <p:nvSpPr>
          <p:cNvPr id="21" name="Oval 20"/>
          <p:cNvSpPr/>
          <p:nvPr/>
        </p:nvSpPr>
        <p:spPr>
          <a:xfrm>
            <a:off x="8092440" y="3163824"/>
            <a:ext cx="402336" cy="402336"/>
          </a:xfrm>
          <a:prstGeom prst="ellipse">
            <a:avLst/>
          </a:prstGeom>
          <a:solidFill>
            <a:srgbClr val="156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3172968"/>
            <a:ext cx="402336" cy="38404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Tha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50224" y="3191256"/>
            <a:ext cx="2240280" cy="31089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350" b="1">
                <a:solidFill>
                  <a:srgbClr val="17231F"/>
                </a:solidFill>
                <a:latin typeface="Noto Sans Thai"/>
              </a:rPr>
              <a:t>ตรวจและแก้ข้อมูล</a:t>
            </a:r>
          </a:p>
        </p:txBody>
      </p:sp>
      <p:sp>
        <p:nvSpPr>
          <p:cNvPr id="24" name="Oval 23"/>
          <p:cNvSpPr/>
          <p:nvPr/>
        </p:nvSpPr>
        <p:spPr>
          <a:xfrm>
            <a:off x="8092440" y="3877056"/>
            <a:ext cx="402336" cy="402336"/>
          </a:xfrm>
          <a:prstGeom prst="ellipse">
            <a:avLst/>
          </a:prstGeom>
          <a:solidFill>
            <a:srgbClr val="156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92440" y="3886200"/>
            <a:ext cx="402336" cy="38404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Tha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50224" y="3904487"/>
            <a:ext cx="2240280" cy="31089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350" b="1">
                <a:solidFill>
                  <a:srgbClr val="17231F"/>
                </a:solidFill>
                <a:latin typeface="Noto Sans Thai"/>
              </a:rPr>
              <a:t>ยืนยันบันทึก</a:t>
            </a:r>
          </a:p>
        </p:txBody>
      </p:sp>
      <p:sp>
        <p:nvSpPr>
          <p:cNvPr id="27" name="Oval 26"/>
          <p:cNvSpPr/>
          <p:nvPr/>
        </p:nvSpPr>
        <p:spPr>
          <a:xfrm>
            <a:off x="8092440" y="4590288"/>
            <a:ext cx="402336" cy="402336"/>
          </a:xfrm>
          <a:prstGeom prst="ellipse">
            <a:avLst/>
          </a:prstGeom>
          <a:solidFill>
            <a:srgbClr val="156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4599431"/>
            <a:ext cx="402336" cy="38404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Tha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50224" y="4617720"/>
            <a:ext cx="2240280" cy="31089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350" b="1">
                <a:solidFill>
                  <a:srgbClr val="17231F"/>
                </a:solidFill>
                <a:latin typeface="Noto Sans Thai"/>
              </a:rPr>
              <a:t>เปิด Dashboard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5870448"/>
            <a:ext cx="2926080" cy="41148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Noto Sans Thai"/>
              </a:rPr>
              <a:t>ขอบคุณครับ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9720" y="5669280"/>
            <a:ext cx="1371600" cy="41148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/>
            <a:r>
              <a:rPr sz="1800" b="1">
                <a:solidFill>
                  <a:srgbClr val="0A4A37"/>
                </a:solidFill>
                <a:latin typeface="Noto Sans Thai"/>
              </a:rPr>
              <a:t>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ใบเสร็จดี — Offline AI Receipt Analyzer</dc:title>
  <dc:subject>Project IoT presentation</dc:subject>
  <dc:creator>[กรอกชื่อผู้จัดทำ]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